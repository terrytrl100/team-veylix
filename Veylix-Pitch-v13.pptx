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3"/>
  </p:notesMasterIdLst>
  <p:sldIdLst>
    <p:sldId id="256" r:id="rId2"/>
    <p:sldId id="257" r:id="rId3"/>
    <p:sldId id="275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76" r:id="rId16"/>
    <p:sldId id="269" r:id="rId17"/>
    <p:sldId id="270" r:id="rId18"/>
    <p:sldId id="271" r:id="rId19"/>
    <p:sldId id="272" r:id="rId20"/>
    <p:sldId id="273" r:id="rId21"/>
    <p:sldId id="274" r:id="rId2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26" d="100"/>
          <a:sy n="126" d="100"/>
        </p:scale>
        <p:origin x="232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023142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10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14.png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5" Type="http://schemas.openxmlformats.org/officeDocument/2006/relationships/image" Target="../media/image7.png"/><Relationship Id="rId4" Type="http://schemas.openxmlformats.org/officeDocument/2006/relationships/image" Target="../media/image13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13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5" Type="http://schemas.openxmlformats.org/officeDocument/2006/relationships/image" Target="../media/image5.png"/><Relationship Id="rId4" Type="http://schemas.openxmlformats.org/officeDocument/2006/relationships/image" Target="../media/image16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17.png"/><Relationship Id="rId4" Type="http://schemas.openxmlformats.org/officeDocument/2006/relationships/image" Target="../media/image4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8.png"/><Relationship Id="rId4" Type="http://schemas.openxmlformats.org/officeDocument/2006/relationships/image" Target="../media/image18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822960"/>
            <a:ext cx="10543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300" dirty="0">
                <a:solidFill>
                  <a:srgbClr val="7E8A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ENCODE × BLOCKCHAIN FOR GOOD  ·  AI TRADING &amp; STRATEGY</a:t>
            </a:r>
            <a:endParaRPr lang="en-US" sz="1300" dirty="0"/>
          </a:p>
        </p:txBody>
      </p:sp>
      <p:pic>
        <p:nvPicPr>
          <p:cNvPr id="3" name="Image 0" descr="/home/claude/veylix_logo_locku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15768" y="1371600"/>
            <a:ext cx="6766560" cy="36027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22960" y="5138928"/>
            <a:ext cx="10543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dirty="0">
                <a:solidFill>
                  <a:srgbClr val="9AA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Pre-trade risk visibility for retail crypto. Institutional risk math, made legible — and honest.</a:t>
            </a:r>
            <a:endParaRPr lang="en-US" sz="1700" dirty="0"/>
          </a:p>
        </p:txBody>
      </p:sp>
      <p:sp>
        <p:nvSpPr>
          <p:cNvPr id="5" name="Text 2"/>
          <p:cNvSpPr/>
          <p:nvPr/>
        </p:nvSpPr>
        <p:spPr>
          <a:xfrm>
            <a:off x="822960" y="5989320"/>
            <a:ext cx="10543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100" dirty="0">
                <a:solidFill>
                  <a:srgbClr val="EA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Team Veylix</a:t>
            </a:r>
            <a:r>
              <a:rPr lang="en-US" sz="1300" kern="0" spc="100" dirty="0">
                <a:solidFill>
                  <a:srgbClr val="646C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Terry · Ashish · Raj · Jia · Lilian · Patti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C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566928" cy="566928"/>
          </a:xfrm>
          <a:prstGeom prst="ellipse">
            <a:avLst/>
          </a:prstGeom>
          <a:solidFill>
            <a:srgbClr val="151A24"/>
          </a:solidFill>
          <a:ln w="12700">
            <a:solidFill>
              <a:srgbClr val="242A3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0158" y="627278"/>
            <a:ext cx="226771" cy="22677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56692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7E8A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640080" y="96012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300" b="1" dirty="0">
                <a:solidFill>
                  <a:srgbClr val="EAEC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Retail can act in one tap — and can't see the risk.</a:t>
            </a:r>
            <a:endParaRPr lang="en-US" sz="3300" dirty="0"/>
          </a:p>
        </p:txBody>
      </p:sp>
      <p:sp>
        <p:nvSpPr>
          <p:cNvPr id="6" name="Shape 3"/>
          <p:cNvSpPr/>
          <p:nvPr/>
        </p:nvSpPr>
        <p:spPr>
          <a:xfrm>
            <a:off x="640080" y="2240280"/>
            <a:ext cx="4754880" cy="3383280"/>
          </a:xfrm>
          <a:prstGeom prst="roundRect">
            <a:avLst>
              <a:gd name="adj" fmla="val 2432"/>
            </a:avLst>
          </a:prstGeom>
          <a:solidFill>
            <a:srgbClr val="151A24"/>
          </a:solidFill>
          <a:ln w="12700">
            <a:solidFill>
              <a:srgbClr val="242A36"/>
            </a:solidFill>
            <a:prstDash val="solid"/>
          </a:ln>
          <a:effectLst>
            <a:outerShdw blurRad="1143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640080" y="2697480"/>
            <a:ext cx="47548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800" b="1" dirty="0">
                <a:solidFill>
                  <a:srgbClr val="FF6F6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~80%</a:t>
            </a:r>
            <a:endParaRPr lang="en-US" sz="8800" dirty="0"/>
          </a:p>
        </p:txBody>
      </p:sp>
      <p:sp>
        <p:nvSpPr>
          <p:cNvPr id="8" name="Text 5"/>
          <p:cNvSpPr/>
          <p:nvPr/>
        </p:nvSpPr>
        <p:spPr>
          <a:xfrm>
            <a:off x="1005840" y="4114800"/>
            <a:ext cx="4023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dirty="0">
                <a:solidFill>
                  <a:srgbClr val="EAE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retail traders using leverage lose money over any sustained period.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822960" y="521208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6C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Sources: crypto research firms, 2024–25; NFTEvening 2025 (84% in year one)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5760720" y="2377440"/>
            <a:ext cx="5760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9AA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buy, sell, and hold the most volatile assets on the market instantly — and trade on:</a:t>
            </a:r>
            <a:endParaRPr lang="en-US" sz="1900" dirty="0"/>
          </a:p>
        </p:txBody>
      </p:sp>
      <p:sp>
        <p:nvSpPr>
          <p:cNvPr id="11" name="Text 8"/>
          <p:cNvSpPr/>
          <p:nvPr/>
        </p:nvSpPr>
        <p:spPr>
          <a:xfrm>
            <a:off x="5943600" y="3246120"/>
            <a:ext cx="54864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2200" b="1" dirty="0">
                <a:solidFill>
                  <a:srgbClr val="EAEC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Price charts</a:t>
            </a:r>
            <a:endParaRPr lang="en-US" sz="22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2200" b="1" dirty="0">
                <a:solidFill>
                  <a:srgbClr val="EAEC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PnL screen</a:t>
            </a:r>
            <a:endParaRPr lang="en-US" sz="22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2200" b="1" dirty="0">
                <a:solidFill>
                  <a:srgbClr val="EAEC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tip from Discord</a:t>
            </a:r>
            <a:endParaRPr lang="en-US" sz="22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2200" b="1" dirty="0">
                <a:solidFill>
                  <a:srgbClr val="FF6F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Vibes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5760720" y="5074920"/>
            <a:ext cx="5760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7E8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downside stays invisible until it's already realised.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640080" y="643737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646C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VEYLIX</a:t>
            </a:r>
            <a:r>
              <a:rPr lang="en-US" sz="900" kern="0" spc="200" dirty="0">
                <a:solidFill>
                  <a:srgbClr val="646C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02 / 21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C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566928" cy="566928"/>
          </a:xfrm>
          <a:prstGeom prst="ellipse">
            <a:avLst/>
          </a:prstGeom>
          <a:solidFill>
            <a:srgbClr val="151A24"/>
          </a:solidFill>
          <a:ln w="12700">
            <a:solidFill>
              <a:srgbClr val="242A3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0158" y="627278"/>
            <a:ext cx="226771" cy="22677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56692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7E8A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BLIND SPOT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640080" y="96012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300" b="1" dirty="0">
                <a:solidFill>
                  <a:srgbClr val="EAEC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risk isn't one line. It's all of them.</a:t>
            </a:r>
            <a:endParaRPr lang="en-US" sz="3300" dirty="0"/>
          </a:p>
        </p:txBody>
      </p:sp>
      <p:sp>
        <p:nvSpPr>
          <p:cNvPr id="6" name="Shape 3"/>
          <p:cNvSpPr/>
          <p:nvPr/>
        </p:nvSpPr>
        <p:spPr>
          <a:xfrm>
            <a:off x="640080" y="2240280"/>
            <a:ext cx="4754880" cy="3383280"/>
          </a:xfrm>
          <a:prstGeom prst="roundRect">
            <a:avLst>
              <a:gd name="adj" fmla="val 2432"/>
            </a:avLst>
          </a:prstGeom>
          <a:solidFill>
            <a:srgbClr val="151A24"/>
          </a:solidFill>
          <a:ln w="12700">
            <a:solidFill>
              <a:srgbClr val="242A36"/>
            </a:solidFill>
            <a:prstDash val="solid"/>
          </a:ln>
          <a:effectLst>
            <a:outerShdw blurRad="1143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640080" y="2697480"/>
            <a:ext cx="47548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400" b="1" dirty="0">
                <a:solidFill>
                  <a:srgbClr val="FF6F6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 in 11</a:t>
            </a:r>
            <a:endParaRPr lang="en-US" sz="6400" dirty="0"/>
          </a:p>
        </p:txBody>
      </p:sp>
      <p:sp>
        <p:nvSpPr>
          <p:cNvPr id="8" name="Text 5"/>
          <p:cNvSpPr/>
          <p:nvPr/>
        </p:nvSpPr>
        <p:spPr>
          <a:xfrm>
            <a:off x="1005840" y="4114800"/>
            <a:ext cx="4023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dirty="0">
                <a:solidFill>
                  <a:srgbClr val="EAE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simulated 30-day futures for a leveraged retail portfolio end in near-total wipeout — a fall of 70% or more.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822960" y="521208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6C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Illustrative · 10,000-path zero-drift Monte Carlo · fixed seed · high-risk portfolio</a:t>
            </a:r>
            <a:endParaRPr lang="en-US" sz="950" dirty="0"/>
          </a:p>
        </p:txBody>
      </p:sp>
      <p:pic>
        <p:nvPicPr>
          <p:cNvPr id="10" name="Spaghetti Char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0720" y="2300000"/>
            <a:ext cx="5760720" cy="3758870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640080" y="643737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646C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VEYLIX</a:t>
            </a:r>
            <a:r>
              <a:rPr lang="en-US" sz="900" kern="0" spc="200" dirty="0">
                <a:solidFill>
                  <a:srgbClr val="646C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03 / 21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C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566928" cy="566928"/>
          </a:xfrm>
          <a:prstGeom prst="ellipse">
            <a:avLst/>
          </a:prstGeom>
          <a:solidFill>
            <a:srgbClr val="151A24"/>
          </a:solidFill>
          <a:ln w="12700">
            <a:solidFill>
              <a:srgbClr val="242A3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0158" y="627278"/>
            <a:ext cx="226771" cy="22677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56692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7E8A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INFORMATION GAP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640080" y="96012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300" b="1" dirty="0">
                <a:solidFill>
                  <a:srgbClr val="EAEC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Institutions manage uncertainty. Retail just hopes.</a:t>
            </a:r>
            <a:endParaRPr lang="en-US" sz="3300" dirty="0"/>
          </a:p>
        </p:txBody>
      </p:sp>
      <p:sp>
        <p:nvSpPr>
          <p:cNvPr id="6" name="Shape 3"/>
          <p:cNvSpPr/>
          <p:nvPr/>
        </p:nvSpPr>
        <p:spPr>
          <a:xfrm>
            <a:off x="640080" y="2286000"/>
            <a:ext cx="5349240" cy="3383280"/>
          </a:xfrm>
          <a:prstGeom prst="roundRect">
            <a:avLst>
              <a:gd name="adj" fmla="val 2432"/>
            </a:avLst>
          </a:prstGeom>
          <a:solidFill>
            <a:srgbClr val="151A24"/>
          </a:solidFill>
          <a:ln w="12700">
            <a:solidFill>
              <a:srgbClr val="242A36"/>
            </a:solidFill>
            <a:prstDash val="solid"/>
          </a:ln>
          <a:effectLst>
            <a:outerShdw blurRad="1143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960120" y="256032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52C7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INSTITUTIONS HAVE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960120" y="3063240"/>
            <a:ext cx="47548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EAE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Monte Carlo simulations</a:t>
            </a:r>
            <a:endParaRPr lang="en-US" sz="180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EAE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 &amp; stress analysis</a:t>
            </a:r>
            <a:endParaRPr lang="en-US" sz="180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EAE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Hedge ratios &amp; beta targeting</a:t>
            </a:r>
            <a:endParaRPr lang="en-US" sz="180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EAE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Drawdown &amp; Value-at-Risk models</a:t>
            </a:r>
            <a:endParaRPr lang="en-US" sz="180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EAE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risk desks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6217920" y="2286000"/>
            <a:ext cx="5349240" cy="3383280"/>
          </a:xfrm>
          <a:prstGeom prst="roundRect">
            <a:avLst>
              <a:gd name="adj" fmla="val 2432"/>
            </a:avLst>
          </a:prstGeom>
          <a:solidFill>
            <a:srgbClr val="11151D"/>
          </a:solidFill>
          <a:ln w="12700">
            <a:solidFill>
              <a:srgbClr val="242A36"/>
            </a:solidFill>
            <a:prstDash val="solid"/>
          </a:ln>
          <a:effectLst>
            <a:outerShdw blurRad="1143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6537960" y="256032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F6F6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RETAIL HAS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6537960" y="3063240"/>
            <a:ext cx="47548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9AA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price chart</a:t>
            </a:r>
            <a:endParaRPr lang="en-US" sz="180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9AA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PnL number</a:t>
            </a:r>
            <a:endParaRPr lang="en-US" sz="180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9AA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Discord tip</a:t>
            </a:r>
            <a:endParaRPr lang="en-US" sz="180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9AA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FOMO</a:t>
            </a:r>
            <a:endParaRPr lang="en-US" sz="180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9AA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Vibes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640080" y="589788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7E8A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markets. Wildly unequal tools. Veylix closes that gap.</a:t>
            </a:r>
            <a:endParaRPr lang="en-US" sz="1900" dirty="0"/>
          </a:p>
        </p:txBody>
      </p:sp>
      <p:sp>
        <p:nvSpPr>
          <p:cNvPr id="13" name="Text 10"/>
          <p:cNvSpPr/>
          <p:nvPr/>
        </p:nvSpPr>
        <p:spPr>
          <a:xfrm>
            <a:off x="640080" y="643737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646C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VEYLIX</a:t>
            </a:r>
            <a:r>
              <a:rPr lang="en-US" sz="900" kern="0" spc="200" dirty="0">
                <a:solidFill>
                  <a:srgbClr val="646C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04 / 21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C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566928" cy="566928"/>
          </a:xfrm>
          <a:prstGeom prst="ellipse">
            <a:avLst/>
          </a:prstGeom>
          <a:solidFill>
            <a:srgbClr val="151A24"/>
          </a:solidFill>
          <a:ln w="12700">
            <a:solidFill>
              <a:srgbClr val="242A3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0158" y="627278"/>
            <a:ext cx="226771" cy="22677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56692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7E8A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PRODUCT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640080" y="96012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300" b="1" dirty="0">
                <a:solidFill>
                  <a:srgbClr val="EAEC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Veylix shows the consequence before the click.</a:t>
            </a:r>
            <a:endParaRPr lang="en-US" sz="3300" dirty="0"/>
          </a:p>
        </p:txBody>
      </p:sp>
      <p:pic>
        <p:nvPicPr>
          <p:cNvPr id="6" name="Image 1" descr="/mnt/user-data/uploads/1781961071608_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2057400"/>
            <a:ext cx="6903720" cy="3980892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640080" y="2057400"/>
            <a:ext cx="6903720" cy="3980892"/>
          </a:xfrm>
          <a:prstGeom prst="roundRect">
            <a:avLst>
              <a:gd name="adj" fmla="val 919"/>
            </a:avLst>
          </a:prstGeom>
          <a:ln w="12700">
            <a:solidFill>
              <a:srgbClr val="242A3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4"/>
          <p:cNvSpPr/>
          <p:nvPr/>
        </p:nvSpPr>
        <p:spPr>
          <a:xfrm>
            <a:off x="7909560" y="2240280"/>
            <a:ext cx="457200" cy="457200"/>
          </a:xfrm>
          <a:prstGeom prst="ellipse">
            <a:avLst/>
          </a:prstGeom>
          <a:solidFill>
            <a:srgbClr val="151A24"/>
          </a:solidFill>
          <a:ln w="12700">
            <a:solidFill>
              <a:srgbClr val="242A3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46720" y="2377440"/>
            <a:ext cx="182880" cy="18288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8503920" y="2203704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AEC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 your live portfolio</a:t>
            </a:r>
            <a:endParaRPr lang="en-US" sz="1600" dirty="0"/>
          </a:p>
        </p:txBody>
      </p:sp>
      <p:sp>
        <p:nvSpPr>
          <p:cNvPr id="11" name="Text 6"/>
          <p:cNvSpPr/>
          <p:nvPr/>
        </p:nvSpPr>
        <p:spPr>
          <a:xfrm>
            <a:off x="8503920" y="2569464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9AA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holdings via Bybit — quantities, prices, weights.</a:t>
            </a:r>
            <a:endParaRPr lang="en-US" sz="1350" dirty="0"/>
          </a:p>
        </p:txBody>
      </p:sp>
      <p:sp>
        <p:nvSpPr>
          <p:cNvPr id="12" name="Shape 7"/>
          <p:cNvSpPr/>
          <p:nvPr/>
        </p:nvSpPr>
        <p:spPr>
          <a:xfrm>
            <a:off x="7909560" y="3447288"/>
            <a:ext cx="457200" cy="457200"/>
          </a:xfrm>
          <a:prstGeom prst="ellipse">
            <a:avLst/>
          </a:prstGeom>
          <a:solidFill>
            <a:srgbClr val="151A24"/>
          </a:solidFill>
          <a:ln w="12700">
            <a:solidFill>
              <a:srgbClr val="242A3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46720" y="3584448"/>
            <a:ext cx="182880" cy="18288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8503920" y="3410712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AEC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Simulate any move</a:t>
            </a:r>
            <a:endParaRPr lang="en-US" sz="1600" dirty="0"/>
          </a:p>
        </p:txBody>
      </p:sp>
      <p:sp>
        <p:nvSpPr>
          <p:cNvPr id="15" name="Text 9"/>
          <p:cNvSpPr/>
          <p:nvPr/>
        </p:nvSpPr>
        <p:spPr>
          <a:xfrm>
            <a:off x="8503920" y="3776472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9AA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Buy, sell, hold, or hedge — watch the outcome cone reshape live.</a:t>
            </a:r>
            <a:endParaRPr lang="en-US" sz="1350" dirty="0"/>
          </a:p>
        </p:txBody>
      </p:sp>
      <p:sp>
        <p:nvSpPr>
          <p:cNvPr id="16" name="Shape 10"/>
          <p:cNvSpPr/>
          <p:nvPr/>
        </p:nvSpPr>
        <p:spPr>
          <a:xfrm>
            <a:off x="7909560" y="4654296"/>
            <a:ext cx="457200" cy="457200"/>
          </a:xfrm>
          <a:prstGeom prst="ellipse">
            <a:avLst/>
          </a:prstGeom>
          <a:solidFill>
            <a:srgbClr val="151A24"/>
          </a:solidFill>
          <a:ln w="12700">
            <a:solidFill>
              <a:srgbClr val="242A3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7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46720" y="4791456"/>
            <a:ext cx="182880" cy="182880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8503920" y="461772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AEC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Understand it</a:t>
            </a:r>
            <a:endParaRPr lang="en-US" sz="1600" dirty="0"/>
          </a:p>
        </p:txBody>
      </p:sp>
      <p:sp>
        <p:nvSpPr>
          <p:cNvPr id="19" name="Text 12"/>
          <p:cNvSpPr/>
          <p:nvPr/>
        </p:nvSpPr>
        <p:spPr>
          <a:xfrm>
            <a:off x="8503920" y="498348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9AA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number explained. No advice, no black box, no extraction.</a:t>
            </a:r>
            <a:endParaRPr lang="en-US" sz="1350" dirty="0"/>
          </a:p>
        </p:txBody>
      </p:sp>
      <p:sp>
        <p:nvSpPr>
          <p:cNvPr id="20" name="Text 13"/>
          <p:cNvSpPr/>
          <p:nvPr/>
        </p:nvSpPr>
        <p:spPr>
          <a:xfrm>
            <a:off x="640080" y="643737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646C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VEYLIX</a:t>
            </a:r>
            <a:r>
              <a:rPr lang="en-US" sz="900" kern="0" spc="200" dirty="0">
                <a:solidFill>
                  <a:srgbClr val="646C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05 / 21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C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566928" cy="566928"/>
          </a:xfrm>
          <a:prstGeom prst="ellipse">
            <a:avLst/>
          </a:prstGeom>
          <a:solidFill>
            <a:srgbClr val="151A24"/>
          </a:solidFill>
          <a:ln w="12700">
            <a:solidFill>
              <a:srgbClr val="242A3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0158" y="627278"/>
            <a:ext cx="226771" cy="22677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56692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7E8A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HOW IT WORKS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640080" y="96012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300" b="1" dirty="0">
                <a:solidFill>
                  <a:srgbClr val="EAEC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Institutional risk math, running in your browser.</a:t>
            </a:r>
            <a:endParaRPr lang="en-US" sz="3300" dirty="0"/>
          </a:p>
        </p:txBody>
      </p:sp>
      <p:sp>
        <p:nvSpPr>
          <p:cNvPr id="6" name="Shape 3"/>
          <p:cNvSpPr/>
          <p:nvPr/>
        </p:nvSpPr>
        <p:spPr>
          <a:xfrm>
            <a:off x="640080" y="2286000"/>
            <a:ext cx="2606040" cy="2651760"/>
          </a:xfrm>
          <a:prstGeom prst="roundRect">
            <a:avLst>
              <a:gd name="adj" fmla="val 3158"/>
            </a:avLst>
          </a:prstGeom>
          <a:solidFill>
            <a:srgbClr val="151A24"/>
          </a:solidFill>
          <a:ln w="12700">
            <a:solidFill>
              <a:srgbClr val="242A36"/>
            </a:solidFill>
            <a:prstDash val="solid"/>
          </a:ln>
          <a:effectLst>
            <a:outerShdw blurRad="1143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896112" y="2560320"/>
            <a:ext cx="502920" cy="502920"/>
          </a:xfrm>
          <a:prstGeom prst="ellipse">
            <a:avLst/>
          </a:prstGeom>
          <a:solidFill>
            <a:srgbClr val="151A24"/>
          </a:solidFill>
          <a:ln w="12700">
            <a:solidFill>
              <a:srgbClr val="242A3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6988" y="2711196"/>
            <a:ext cx="201168" cy="20116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896112" y="3200400"/>
            <a:ext cx="20939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EAEC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· Connect</a:t>
            </a:r>
            <a:endParaRPr lang="en-US" sz="1700" dirty="0"/>
          </a:p>
        </p:txBody>
      </p:sp>
      <p:sp>
        <p:nvSpPr>
          <p:cNvPr id="10" name="Text 6"/>
          <p:cNvSpPr/>
          <p:nvPr/>
        </p:nvSpPr>
        <p:spPr>
          <a:xfrm>
            <a:off x="896112" y="3611880"/>
            <a:ext cx="209397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9AA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portfolio pulled from Bybit (on-chain wallets next).</a:t>
            </a:r>
            <a:endParaRPr lang="en-US" sz="1350" dirty="0"/>
          </a:p>
        </p:txBody>
      </p:sp>
      <p:sp>
        <p:nvSpPr>
          <p:cNvPr id="11" name="Shape 7"/>
          <p:cNvSpPr/>
          <p:nvPr/>
        </p:nvSpPr>
        <p:spPr>
          <a:xfrm>
            <a:off x="3493008" y="2286000"/>
            <a:ext cx="2606040" cy="2651760"/>
          </a:xfrm>
          <a:prstGeom prst="roundRect">
            <a:avLst>
              <a:gd name="adj" fmla="val 3158"/>
            </a:avLst>
          </a:prstGeom>
          <a:solidFill>
            <a:srgbClr val="151A24"/>
          </a:solidFill>
          <a:ln w="12700">
            <a:solidFill>
              <a:srgbClr val="242A36"/>
            </a:solidFill>
            <a:prstDash val="solid"/>
          </a:ln>
          <a:effectLst>
            <a:outerShdw blurRad="1143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8"/>
          <p:cNvSpPr/>
          <p:nvPr/>
        </p:nvSpPr>
        <p:spPr>
          <a:xfrm>
            <a:off x="3749040" y="2560320"/>
            <a:ext cx="502920" cy="502920"/>
          </a:xfrm>
          <a:prstGeom prst="ellipse">
            <a:avLst/>
          </a:prstGeom>
          <a:solidFill>
            <a:srgbClr val="151A24"/>
          </a:solidFill>
          <a:ln w="12700">
            <a:solidFill>
              <a:srgbClr val="242A3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99916" y="2711196"/>
            <a:ext cx="201168" cy="201168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3749040" y="3200400"/>
            <a:ext cx="20939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EAEC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· Simulate</a:t>
            </a:r>
            <a:endParaRPr lang="en-US" sz="1700" dirty="0"/>
          </a:p>
        </p:txBody>
      </p:sp>
      <p:sp>
        <p:nvSpPr>
          <p:cNvPr id="15" name="Text 10"/>
          <p:cNvSpPr/>
          <p:nvPr/>
        </p:nvSpPr>
        <p:spPr>
          <a:xfrm>
            <a:off x="3749040" y="3611880"/>
            <a:ext cx="209397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9AA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3,000-path Monte Carlo + Value-at-Risk. BTC factor + idiosyncratic noise. Zero-drift — risk, not prediction.</a:t>
            </a:r>
            <a:endParaRPr lang="en-US" sz="1350" dirty="0"/>
          </a:p>
        </p:txBody>
      </p:sp>
      <p:sp>
        <p:nvSpPr>
          <p:cNvPr id="16" name="Shape 11"/>
          <p:cNvSpPr/>
          <p:nvPr/>
        </p:nvSpPr>
        <p:spPr>
          <a:xfrm>
            <a:off x="6345936" y="2286000"/>
            <a:ext cx="2606040" cy="2651760"/>
          </a:xfrm>
          <a:prstGeom prst="roundRect">
            <a:avLst>
              <a:gd name="adj" fmla="val 3158"/>
            </a:avLst>
          </a:prstGeom>
          <a:solidFill>
            <a:srgbClr val="151A24"/>
          </a:solidFill>
          <a:ln w="12700">
            <a:solidFill>
              <a:srgbClr val="242A36"/>
            </a:solidFill>
            <a:prstDash val="solid"/>
          </a:ln>
          <a:effectLst>
            <a:outerShdw blurRad="1143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2"/>
          <p:cNvSpPr/>
          <p:nvPr/>
        </p:nvSpPr>
        <p:spPr>
          <a:xfrm>
            <a:off x="6601968" y="2560320"/>
            <a:ext cx="502920" cy="502920"/>
          </a:xfrm>
          <a:prstGeom prst="ellipse">
            <a:avLst/>
          </a:prstGeom>
          <a:solidFill>
            <a:srgbClr val="151A24"/>
          </a:solidFill>
          <a:ln w="12700">
            <a:solidFill>
              <a:srgbClr val="242A3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52844" y="2711196"/>
            <a:ext cx="201168" cy="201168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6601968" y="3200400"/>
            <a:ext cx="20939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EAEC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· Cost the hedge</a:t>
            </a:r>
            <a:endParaRPr lang="en-US" sz="1700" dirty="0"/>
          </a:p>
        </p:txBody>
      </p:sp>
      <p:sp>
        <p:nvSpPr>
          <p:cNvPr id="20" name="Text 14"/>
          <p:cNvSpPr/>
          <p:nvPr/>
        </p:nvSpPr>
        <p:spPr>
          <a:xfrm>
            <a:off x="6601968" y="3611880"/>
            <a:ext cx="209397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9AA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Bybit funding rates price what a hedge actually costs you.</a:t>
            </a:r>
            <a:endParaRPr lang="en-US" sz="1350" dirty="0"/>
          </a:p>
        </p:txBody>
      </p:sp>
      <p:sp>
        <p:nvSpPr>
          <p:cNvPr id="21" name="Shape 15"/>
          <p:cNvSpPr/>
          <p:nvPr/>
        </p:nvSpPr>
        <p:spPr>
          <a:xfrm>
            <a:off x="9198864" y="2286000"/>
            <a:ext cx="2606040" cy="2651760"/>
          </a:xfrm>
          <a:prstGeom prst="roundRect">
            <a:avLst>
              <a:gd name="adj" fmla="val 3158"/>
            </a:avLst>
          </a:prstGeom>
          <a:solidFill>
            <a:srgbClr val="151A24"/>
          </a:solidFill>
          <a:ln w="12700">
            <a:solidFill>
              <a:srgbClr val="242A36"/>
            </a:solidFill>
            <a:prstDash val="solid"/>
          </a:ln>
          <a:effectLst>
            <a:outerShdw blurRad="1143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16"/>
          <p:cNvSpPr/>
          <p:nvPr/>
        </p:nvSpPr>
        <p:spPr>
          <a:xfrm>
            <a:off x="9454896" y="2560320"/>
            <a:ext cx="502920" cy="502920"/>
          </a:xfrm>
          <a:prstGeom prst="ellipse">
            <a:avLst/>
          </a:prstGeom>
          <a:solidFill>
            <a:srgbClr val="151A24"/>
          </a:solidFill>
          <a:ln w="12700">
            <a:solidFill>
              <a:srgbClr val="242A3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3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605772" y="2711196"/>
            <a:ext cx="201168" cy="201168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9454896" y="3200400"/>
            <a:ext cx="20939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EAEC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· See &amp; understand</a:t>
            </a:r>
            <a:endParaRPr lang="en-US" sz="1700" dirty="0"/>
          </a:p>
        </p:txBody>
      </p:sp>
      <p:sp>
        <p:nvSpPr>
          <p:cNvPr id="25" name="Text 18"/>
          <p:cNvSpPr/>
          <p:nvPr/>
        </p:nvSpPr>
        <p:spPr>
          <a:xfrm>
            <a:off x="9454896" y="3611880"/>
            <a:ext cx="209397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9AA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outcome cone + an AI layer explaining every number in plain language.</a:t>
            </a:r>
            <a:endParaRPr lang="en-US" sz="1350" dirty="0"/>
          </a:p>
        </p:txBody>
      </p:sp>
      <p:sp>
        <p:nvSpPr>
          <p:cNvPr id="26" name="Shape 19"/>
          <p:cNvSpPr/>
          <p:nvPr/>
        </p:nvSpPr>
        <p:spPr>
          <a:xfrm>
            <a:off x="640080" y="5257800"/>
            <a:ext cx="10927080" cy="960120"/>
          </a:xfrm>
          <a:prstGeom prst="roundRect">
            <a:avLst>
              <a:gd name="adj" fmla="val 8571"/>
            </a:avLst>
          </a:prstGeom>
          <a:solidFill>
            <a:srgbClr val="11151D"/>
          </a:solidFill>
          <a:ln w="12700">
            <a:solidFill>
              <a:srgbClr val="242A36"/>
            </a:solidFill>
            <a:prstDash val="solid"/>
          </a:ln>
          <a:effectLst>
            <a:outerShdw blurRad="1143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Shape 20"/>
          <p:cNvSpPr/>
          <p:nvPr/>
        </p:nvSpPr>
        <p:spPr>
          <a:xfrm>
            <a:off x="914400" y="5458968"/>
            <a:ext cx="548640" cy="548640"/>
          </a:xfrm>
          <a:prstGeom prst="ellipse">
            <a:avLst/>
          </a:prstGeom>
          <a:solidFill>
            <a:srgbClr val="151A24"/>
          </a:solidFill>
          <a:ln w="12700">
            <a:solidFill>
              <a:srgbClr val="242A3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8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78992" y="5623560"/>
            <a:ext cx="219456" cy="219456"/>
          </a:xfrm>
          <a:prstGeom prst="rect">
            <a:avLst/>
          </a:prstGeom>
        </p:spPr>
      </p:pic>
      <p:sp>
        <p:nvSpPr>
          <p:cNvPr id="29" name="Text 21"/>
          <p:cNvSpPr/>
          <p:nvPr/>
        </p:nvSpPr>
        <p:spPr>
          <a:xfrm>
            <a:off x="1645920" y="5440680"/>
            <a:ext cx="9692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7E8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Meaningful Bybit use:  </a:t>
            </a:r>
            <a:r>
              <a:rPr lang="en-US" sz="1600" dirty="0">
                <a:solidFill>
                  <a:srgbClr val="EAE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holdings + funding-rate data = the true, current cost of hedging your portfolio — not a guess.</a:t>
            </a:r>
            <a:endParaRPr lang="en-US" sz="1600" dirty="0"/>
          </a:p>
        </p:txBody>
      </p:sp>
      <p:sp>
        <p:nvSpPr>
          <p:cNvPr id="30" name="Text 22"/>
          <p:cNvSpPr/>
          <p:nvPr/>
        </p:nvSpPr>
        <p:spPr>
          <a:xfrm>
            <a:off x="640080" y="643737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646C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VEYLIX</a:t>
            </a:r>
            <a:r>
              <a:rPr lang="en-US" sz="900" kern="0" spc="200" dirty="0">
                <a:solidFill>
                  <a:srgbClr val="646C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06 / 21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C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566928" cy="566928"/>
          </a:xfrm>
          <a:prstGeom prst="ellipse">
            <a:avLst/>
          </a:prstGeom>
          <a:solidFill>
            <a:srgbClr val="151A24"/>
          </a:solidFill>
          <a:ln w="12700">
            <a:solidFill>
              <a:srgbClr val="242A3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0158" y="627278"/>
            <a:ext cx="226771" cy="22677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56692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7E8A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WHAT MAKES IT DIFFERENT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640080" y="96012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300" b="1" dirty="0">
                <a:solidFill>
                  <a:srgbClr val="EAEC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Honest by design.</a:t>
            </a:r>
            <a:endParaRPr lang="en-US" sz="3300" dirty="0"/>
          </a:p>
        </p:txBody>
      </p:sp>
      <p:sp>
        <p:nvSpPr>
          <p:cNvPr id="6" name="Shape 3"/>
          <p:cNvSpPr/>
          <p:nvPr/>
        </p:nvSpPr>
        <p:spPr>
          <a:xfrm>
            <a:off x="640080" y="2240280"/>
            <a:ext cx="3520440" cy="2514600"/>
          </a:xfrm>
          <a:prstGeom prst="roundRect">
            <a:avLst>
              <a:gd name="adj" fmla="val 3273"/>
            </a:avLst>
          </a:prstGeom>
          <a:solidFill>
            <a:srgbClr val="151A24"/>
          </a:solidFill>
          <a:ln w="12700">
            <a:solidFill>
              <a:srgbClr val="242A36"/>
            </a:solidFill>
            <a:prstDash val="solid"/>
          </a:ln>
          <a:effectLst>
            <a:outerShdw blurRad="1143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914400" y="2532888"/>
            <a:ext cx="548640" cy="548640"/>
          </a:xfrm>
          <a:prstGeom prst="ellipse">
            <a:avLst/>
          </a:prstGeom>
          <a:solidFill>
            <a:srgbClr val="151A24"/>
          </a:solidFill>
          <a:ln w="12700">
            <a:solidFill>
              <a:srgbClr val="242A3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8992" y="2697480"/>
            <a:ext cx="219456" cy="21945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914400" y="324612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AEC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Pre-trade, not post-mortem</a:t>
            </a:r>
            <a:endParaRPr lang="en-US" sz="1800" dirty="0"/>
          </a:p>
        </p:txBody>
      </p:sp>
      <p:sp>
        <p:nvSpPr>
          <p:cNvPr id="10" name="Text 6"/>
          <p:cNvSpPr/>
          <p:nvPr/>
        </p:nvSpPr>
        <p:spPr>
          <a:xfrm>
            <a:off x="914400" y="3840480"/>
            <a:ext cx="2971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AA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before you act — not PnL after the damage is done.</a:t>
            </a:r>
            <a:endParaRPr lang="en-US" sz="1400" dirty="0"/>
          </a:p>
        </p:txBody>
      </p:sp>
      <p:sp>
        <p:nvSpPr>
          <p:cNvPr id="11" name="Shape 7"/>
          <p:cNvSpPr/>
          <p:nvPr/>
        </p:nvSpPr>
        <p:spPr>
          <a:xfrm>
            <a:off x="4343400" y="2240280"/>
            <a:ext cx="3520440" cy="2514600"/>
          </a:xfrm>
          <a:prstGeom prst="roundRect">
            <a:avLst>
              <a:gd name="adj" fmla="val 3273"/>
            </a:avLst>
          </a:prstGeom>
          <a:solidFill>
            <a:srgbClr val="151A24"/>
          </a:solidFill>
          <a:ln w="12700">
            <a:solidFill>
              <a:srgbClr val="242A36"/>
            </a:solidFill>
            <a:prstDash val="solid"/>
          </a:ln>
          <a:effectLst>
            <a:outerShdw blurRad="1143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8"/>
          <p:cNvSpPr/>
          <p:nvPr/>
        </p:nvSpPr>
        <p:spPr>
          <a:xfrm>
            <a:off x="4617720" y="2532888"/>
            <a:ext cx="548640" cy="548640"/>
          </a:xfrm>
          <a:prstGeom prst="ellipse">
            <a:avLst/>
          </a:prstGeom>
          <a:solidFill>
            <a:srgbClr val="151A24"/>
          </a:solidFill>
          <a:ln w="12700">
            <a:solidFill>
              <a:srgbClr val="242A3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82312" y="2697480"/>
            <a:ext cx="219456" cy="219456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617720" y="324612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AEC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Explainable, not black-box</a:t>
            </a:r>
            <a:endParaRPr lang="en-US" sz="1800" dirty="0"/>
          </a:p>
        </p:txBody>
      </p:sp>
      <p:sp>
        <p:nvSpPr>
          <p:cNvPr id="15" name="Text 10"/>
          <p:cNvSpPr/>
          <p:nvPr/>
        </p:nvSpPr>
        <p:spPr>
          <a:xfrm>
            <a:off x="4617720" y="3840480"/>
            <a:ext cx="2971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AA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number traced to its driver. Methodology on screen, fixed-seed reproducible.</a:t>
            </a:r>
            <a:endParaRPr lang="en-US" sz="1400" dirty="0"/>
          </a:p>
        </p:txBody>
      </p:sp>
      <p:sp>
        <p:nvSpPr>
          <p:cNvPr id="16" name="Shape 11"/>
          <p:cNvSpPr/>
          <p:nvPr/>
        </p:nvSpPr>
        <p:spPr>
          <a:xfrm>
            <a:off x="8046720" y="2240280"/>
            <a:ext cx="3520440" cy="2514600"/>
          </a:xfrm>
          <a:prstGeom prst="roundRect">
            <a:avLst>
              <a:gd name="adj" fmla="val 3273"/>
            </a:avLst>
          </a:prstGeom>
          <a:solidFill>
            <a:srgbClr val="151A24"/>
          </a:solidFill>
          <a:ln w="12700">
            <a:solidFill>
              <a:srgbClr val="242A36"/>
            </a:solidFill>
            <a:prstDash val="solid"/>
          </a:ln>
          <a:effectLst>
            <a:outerShdw blurRad="1143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2"/>
          <p:cNvSpPr/>
          <p:nvPr/>
        </p:nvSpPr>
        <p:spPr>
          <a:xfrm>
            <a:off x="8321040" y="2532888"/>
            <a:ext cx="548640" cy="548640"/>
          </a:xfrm>
          <a:prstGeom prst="ellipse">
            <a:avLst/>
          </a:prstGeom>
          <a:solidFill>
            <a:srgbClr val="151A24"/>
          </a:solidFill>
          <a:ln w="12700">
            <a:solidFill>
              <a:srgbClr val="242A3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85632" y="2697480"/>
            <a:ext cx="219456" cy="219456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8321040" y="324612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AEC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Education, not advice</a:t>
            </a:r>
            <a:endParaRPr lang="en-US" sz="1800" dirty="0"/>
          </a:p>
        </p:txBody>
      </p:sp>
      <p:sp>
        <p:nvSpPr>
          <p:cNvPr id="20" name="Text 14"/>
          <p:cNvSpPr/>
          <p:nvPr/>
        </p:nvSpPr>
        <p:spPr>
          <a:xfrm>
            <a:off x="8321040" y="3840480"/>
            <a:ext cx="2971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AA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Surfaces risk, never recommends. No custody, no execution, no extraction.</a:t>
            </a:r>
            <a:endParaRPr lang="en-US" sz="1400" dirty="0"/>
          </a:p>
        </p:txBody>
      </p:sp>
      <p:sp>
        <p:nvSpPr>
          <p:cNvPr id="21" name="Text 15"/>
          <p:cNvSpPr/>
          <p:nvPr/>
        </p:nvSpPr>
        <p:spPr>
          <a:xfrm>
            <a:off x="640080" y="5175504"/>
            <a:ext cx="10927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7E8A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don't predict prices — we make downside legible. Prediction is what burns retail; clarity is what protects it.</a:t>
            </a:r>
            <a:endParaRPr lang="en-US" sz="1800" dirty="0"/>
          </a:p>
        </p:txBody>
      </p:sp>
      <p:sp>
        <p:nvSpPr>
          <p:cNvPr id="22" name="Text 16"/>
          <p:cNvSpPr/>
          <p:nvPr/>
        </p:nvSpPr>
        <p:spPr>
          <a:xfrm>
            <a:off x="640080" y="643737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646C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VEYLIX</a:t>
            </a:r>
            <a:r>
              <a:rPr lang="en-US" sz="900" kern="0" spc="200" dirty="0">
                <a:solidFill>
                  <a:srgbClr val="646C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07 / 21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C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566928" cy="566928"/>
          </a:xfrm>
          <a:prstGeom prst="ellipse">
            <a:avLst/>
          </a:prstGeom>
          <a:solidFill>
            <a:srgbClr val="151A24"/>
          </a:solidFill>
          <a:ln w="12700">
            <a:solidFill>
              <a:srgbClr val="242A3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0158" y="627278"/>
            <a:ext cx="226771" cy="22677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56692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7E8A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LANDSCAPE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640080" y="96012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300" b="1" dirty="0">
                <a:solidFill>
                  <a:srgbClr val="EAEC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Nobody gives retail forward-looking risk.</a:t>
            </a:r>
            <a:endParaRPr lang="en-US" sz="33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600200"/>
          <a:ext cx="10945368" cy="3785616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91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2763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2763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2763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62763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9AA1B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Capability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0800" marR="50800" marT="38100" marB="38100" anchor="ctr">
                    <a:lnL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2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7E8AF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Veylix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38100" marB="38100" anchor="ctr">
                    <a:lnL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1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EAECF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CoinStats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38100" marB="38100" anchor="ctr">
                    <a:lnL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2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EAECF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Zerion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38100" marB="38100" anchor="ctr">
                    <a:lnL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2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EAECF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Bybit calc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38100" marB="38100" anchor="ctr">
                    <a:lnL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2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EAECF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Aladdin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38100" marB="38100" anchor="ctr">
                    <a:lnL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2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EAECF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Live portfolio · your account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ctr">
                    <a:lnL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52C7E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38100" marB="38100" anchor="ctr">
                    <a:lnL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E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52C7E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38100" marB="38100" anchor="ctr">
                    <a:lnL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52C7E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38100" marB="38100" anchor="ctr">
                    <a:lnL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7E8AF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38100" marB="38100" anchor="ctr">
                    <a:lnL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FF6F6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✗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38100" marB="38100" anchor="ctr">
                    <a:lnL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EAECF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Forward outcome cone (MC)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ctr">
                    <a:lnL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52C7E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38100" marB="38100" anchor="ctr">
                    <a:lnL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E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FF6F6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✗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38100" marB="38100" anchor="ctr">
                    <a:lnL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FF6F6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✗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38100" marB="38100" anchor="ctr">
                    <a:lnL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FF6F6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✗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38100" marB="38100" anchor="ctr">
                    <a:lnL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52C7E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38100" marB="38100" anchor="ctr">
                    <a:lnL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EAECF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Portfolio tail risk · VaR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ctr">
                    <a:lnL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52C7E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38100" marB="38100" anchor="ctr">
                    <a:lnL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E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FF6F6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✗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38100" marB="38100" anchor="ctr">
                    <a:lnL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FF6F6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✗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38100" marB="38100" anchor="ctr">
                    <a:lnL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FF6F6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✗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38100" marB="38100" anchor="ctr">
                    <a:lnL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52C7E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38100" marB="38100" anchor="ctr">
                    <a:lnL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EAECF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Interactive hedge + live cost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ctr">
                    <a:lnL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52C7E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38100" marB="38100" anchor="ctr">
                    <a:lnL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E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FF6F6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✗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38100" marB="38100" anchor="ctr">
                    <a:lnL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FF6F6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✗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38100" marB="38100" anchor="ctr">
                    <a:lnL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FF6F6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✗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38100" marB="38100" anchor="ctr">
                    <a:lnL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7E8AF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38100" marB="38100" anchor="ctr">
                    <a:lnL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EAECF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Plain-language explainer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ctr">
                    <a:lnL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52C7E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38100" marB="38100" anchor="ctr">
                    <a:lnL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E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FF6F6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✗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38100" marB="38100" anchor="ctr">
                    <a:lnL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FF6F6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✗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38100" marB="38100" anchor="ctr">
                    <a:lnL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FF6F6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✗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38100" marB="38100" anchor="ctr">
                    <a:lnL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FF6F6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✗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38100" marB="38100" anchor="ctr">
                    <a:lnL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EAECF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Reproducible / inspectable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ctr">
                    <a:lnL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52C7E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38100" marB="38100" anchor="ctr">
                    <a:lnL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E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FF6F6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✗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38100" marB="38100" anchor="ctr">
                    <a:lnL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FF6F6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✗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38100" marB="38100" anchor="ctr">
                    <a:lnL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7E8AF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38100" marB="38100" anchor="ctr">
                    <a:lnL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FF6F6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✗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38100" marB="38100" anchor="ctr">
                    <a:lnL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EAECF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Built for retail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ctr">
                    <a:lnL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52C7E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38100" marB="38100" anchor="ctr">
                    <a:lnL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E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52C7E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38100" marB="38100" anchor="ctr">
                    <a:lnL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52C7E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38100" marB="38100" anchor="ctr">
                    <a:lnL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52C7E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38100" marB="38100" anchor="ctr">
                    <a:lnL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FF6F6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✗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38100" marB="38100" anchor="ctr">
                    <a:lnL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9AA1B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ctr">
                    <a:lnL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7E8AF5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Free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0800" marR="50800" marT="38100" marB="38100" anchor="ctr">
                    <a:lnL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E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9AA1B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$9.99/mo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0800" marR="50800" marT="38100" marB="38100" anchor="ctr">
                    <a:lnL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9AA1B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Free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0800" marR="50800" marT="38100" marB="38100" anchor="ctr">
                    <a:lnL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9AA1B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Free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0800" marR="50800" marT="38100" marB="38100" anchor="ctr">
                    <a:lnL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9AA1B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Enterprise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0800" marR="50800" marT="38100" marB="38100" anchor="ctr">
                    <a:lnL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7" name="Shape 3"/>
          <p:cNvSpPr/>
          <p:nvPr/>
        </p:nvSpPr>
        <p:spPr>
          <a:xfrm>
            <a:off x="640080" y="5532120"/>
            <a:ext cx="10927080" cy="713232"/>
          </a:xfrm>
          <a:prstGeom prst="roundRect">
            <a:avLst>
              <a:gd name="adj" fmla="val 11538"/>
            </a:avLst>
          </a:prstGeom>
          <a:solidFill>
            <a:srgbClr val="11151D"/>
          </a:solidFill>
          <a:ln w="12700">
            <a:solidFill>
              <a:srgbClr val="242A36"/>
            </a:solidFill>
            <a:prstDash val="solid"/>
          </a:ln>
          <a:effectLst>
            <a:outerShdw blurRad="1143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914400" y="5577840"/>
            <a:ext cx="10424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7E8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Grounded in the market:  </a:t>
            </a:r>
            <a:r>
              <a:rPr lang="en-US" sz="1150" dirty="0">
                <a:solidFill>
                  <a:srgbClr val="EAE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trackers (CoinStats, Zerion, Delta) show holdings and past P&amp;L; Bybit's calculator prices one position; forward portfolio risk lives only in institutional engines like Aladdin. Veylix is first to bring it to retail — live, explained, free.</a:t>
            </a:r>
            <a:endParaRPr lang="en-US" sz="1150" dirty="0"/>
          </a:p>
        </p:txBody>
      </p:sp>
      <p:sp>
        <p:nvSpPr>
          <p:cNvPr id="9" name="Text 5"/>
          <p:cNvSpPr/>
          <p:nvPr/>
        </p:nvSpPr>
        <p:spPr>
          <a:xfrm>
            <a:off x="640080" y="643737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646C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VEYLIX</a:t>
            </a:r>
            <a:r>
              <a:rPr lang="en-US" sz="900" kern="0" spc="200" dirty="0">
                <a:solidFill>
                  <a:srgbClr val="646C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08 / 21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C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566928" cy="566928"/>
          </a:xfrm>
          <a:prstGeom prst="ellipse">
            <a:avLst/>
          </a:prstGeom>
          <a:solidFill>
            <a:srgbClr val="151A24"/>
          </a:solidFill>
          <a:ln w="12700">
            <a:solidFill>
              <a:srgbClr val="242A3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0158" y="627278"/>
            <a:ext cx="226771" cy="22677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56692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7E8A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DEFENSIBILITY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640080" y="96012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300" b="1" dirty="0">
                <a:solidFill>
                  <a:srgbClr val="EAEC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this compounds.</a:t>
            </a:r>
            <a:endParaRPr lang="en-US" sz="3300" dirty="0"/>
          </a:p>
        </p:txBody>
      </p:sp>
      <p:sp>
        <p:nvSpPr>
          <p:cNvPr id="6" name="Shape 3"/>
          <p:cNvSpPr/>
          <p:nvPr/>
        </p:nvSpPr>
        <p:spPr>
          <a:xfrm>
            <a:off x="640080" y="2240280"/>
            <a:ext cx="5349240" cy="1691640"/>
          </a:xfrm>
          <a:prstGeom prst="roundRect">
            <a:avLst>
              <a:gd name="adj" fmla="val 4865"/>
            </a:avLst>
          </a:prstGeom>
          <a:solidFill>
            <a:srgbClr val="151A24"/>
          </a:solidFill>
          <a:ln w="12700">
            <a:solidFill>
              <a:srgbClr val="242A36"/>
            </a:solidFill>
            <a:prstDash val="solid"/>
          </a:ln>
          <a:effectLst>
            <a:outerShdw blurRad="1143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914400" y="2532888"/>
            <a:ext cx="530352" cy="530352"/>
          </a:xfrm>
          <a:prstGeom prst="ellipse">
            <a:avLst/>
          </a:prstGeom>
          <a:solidFill>
            <a:srgbClr val="151A24"/>
          </a:solidFill>
          <a:ln w="12700">
            <a:solidFill>
              <a:srgbClr val="242A3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3506" y="2691994"/>
            <a:ext cx="212141" cy="212141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600200" y="2532888"/>
            <a:ext cx="4160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EAEC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trust brand</a:t>
            </a:r>
            <a:endParaRPr lang="en-US" sz="1700" dirty="0"/>
          </a:p>
        </p:txBody>
      </p:sp>
      <p:sp>
        <p:nvSpPr>
          <p:cNvPr id="10" name="Text 6"/>
          <p:cNvSpPr/>
          <p:nvPr/>
        </p:nvSpPr>
        <p:spPr>
          <a:xfrm>
            <a:off x="1600200" y="2971800"/>
            <a:ext cx="4160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9AA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“Honest by default” is structurally hard for volume-driven incumbents to copy — their model depends on you trading more.</a:t>
            </a:r>
            <a:endParaRPr lang="en-US" sz="1350" dirty="0"/>
          </a:p>
        </p:txBody>
      </p:sp>
      <p:sp>
        <p:nvSpPr>
          <p:cNvPr id="11" name="Shape 7"/>
          <p:cNvSpPr/>
          <p:nvPr/>
        </p:nvSpPr>
        <p:spPr>
          <a:xfrm>
            <a:off x="6217920" y="2240280"/>
            <a:ext cx="5349240" cy="1691640"/>
          </a:xfrm>
          <a:prstGeom prst="roundRect">
            <a:avLst>
              <a:gd name="adj" fmla="val 4865"/>
            </a:avLst>
          </a:prstGeom>
          <a:solidFill>
            <a:srgbClr val="151A24"/>
          </a:solidFill>
          <a:ln w="12700">
            <a:solidFill>
              <a:srgbClr val="242A36"/>
            </a:solidFill>
            <a:prstDash val="solid"/>
          </a:ln>
          <a:effectLst>
            <a:outerShdw blurRad="1143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8"/>
          <p:cNvSpPr/>
          <p:nvPr/>
        </p:nvSpPr>
        <p:spPr>
          <a:xfrm>
            <a:off x="6492240" y="2532888"/>
            <a:ext cx="530352" cy="530352"/>
          </a:xfrm>
          <a:prstGeom prst="ellipse">
            <a:avLst/>
          </a:prstGeom>
          <a:solidFill>
            <a:srgbClr val="151A24"/>
          </a:solidFill>
          <a:ln w="12700">
            <a:solidFill>
              <a:srgbClr val="242A3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51346" y="2691994"/>
            <a:ext cx="212141" cy="212141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7178040" y="2532888"/>
            <a:ext cx="4160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EAEC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integration network</a:t>
            </a:r>
            <a:endParaRPr lang="en-US" sz="1700" dirty="0"/>
          </a:p>
        </p:txBody>
      </p:sp>
      <p:sp>
        <p:nvSpPr>
          <p:cNvPr id="15" name="Text 10"/>
          <p:cNvSpPr/>
          <p:nvPr/>
        </p:nvSpPr>
        <p:spPr>
          <a:xfrm>
            <a:off x="7178040" y="2971800"/>
            <a:ext cx="4160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9AA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Embedded in exchanges and wallets, each integration becomes distribution other tools can't reach.</a:t>
            </a:r>
            <a:endParaRPr lang="en-US" sz="1350" dirty="0"/>
          </a:p>
        </p:txBody>
      </p:sp>
      <p:sp>
        <p:nvSpPr>
          <p:cNvPr id="16" name="Shape 11"/>
          <p:cNvSpPr/>
          <p:nvPr/>
        </p:nvSpPr>
        <p:spPr>
          <a:xfrm>
            <a:off x="640080" y="4206240"/>
            <a:ext cx="5349240" cy="1691640"/>
          </a:xfrm>
          <a:prstGeom prst="roundRect">
            <a:avLst>
              <a:gd name="adj" fmla="val 4865"/>
            </a:avLst>
          </a:prstGeom>
          <a:solidFill>
            <a:srgbClr val="151A24"/>
          </a:solidFill>
          <a:ln w="12700">
            <a:solidFill>
              <a:srgbClr val="242A36"/>
            </a:solidFill>
            <a:prstDash val="solid"/>
          </a:ln>
          <a:effectLst>
            <a:outerShdw blurRad="1143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2"/>
          <p:cNvSpPr/>
          <p:nvPr/>
        </p:nvSpPr>
        <p:spPr>
          <a:xfrm>
            <a:off x="914400" y="4498848"/>
            <a:ext cx="530352" cy="530352"/>
          </a:xfrm>
          <a:prstGeom prst="ellipse">
            <a:avLst/>
          </a:prstGeom>
          <a:solidFill>
            <a:srgbClr val="151A24"/>
          </a:solidFill>
          <a:ln w="12700">
            <a:solidFill>
              <a:srgbClr val="242A3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3506" y="4657954"/>
            <a:ext cx="212141" cy="212141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600200" y="4498848"/>
            <a:ext cx="4160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EAEC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risk-literacy flywheel</a:t>
            </a:r>
            <a:endParaRPr lang="en-US" sz="1700" dirty="0"/>
          </a:p>
        </p:txBody>
      </p:sp>
      <p:sp>
        <p:nvSpPr>
          <p:cNvPr id="20" name="Text 14"/>
          <p:cNvSpPr/>
          <p:nvPr/>
        </p:nvSpPr>
        <p:spPr>
          <a:xfrm>
            <a:off x="1600200" y="4937760"/>
            <a:ext cx="4160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9AA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Education → community → engagement → data that sharpens the models.</a:t>
            </a:r>
            <a:endParaRPr lang="en-US" sz="1350" dirty="0"/>
          </a:p>
        </p:txBody>
      </p:sp>
      <p:sp>
        <p:nvSpPr>
          <p:cNvPr id="21" name="Shape 15"/>
          <p:cNvSpPr/>
          <p:nvPr/>
        </p:nvSpPr>
        <p:spPr>
          <a:xfrm>
            <a:off x="6217920" y="4206240"/>
            <a:ext cx="5349240" cy="1691640"/>
          </a:xfrm>
          <a:prstGeom prst="roundRect">
            <a:avLst>
              <a:gd name="adj" fmla="val 4865"/>
            </a:avLst>
          </a:prstGeom>
          <a:solidFill>
            <a:srgbClr val="151A24"/>
          </a:solidFill>
          <a:ln w="12700">
            <a:solidFill>
              <a:srgbClr val="242A36"/>
            </a:solidFill>
            <a:prstDash val="solid"/>
          </a:ln>
          <a:effectLst>
            <a:outerShdw blurRad="1143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16"/>
          <p:cNvSpPr/>
          <p:nvPr/>
        </p:nvSpPr>
        <p:spPr>
          <a:xfrm>
            <a:off x="6492240" y="4498848"/>
            <a:ext cx="530352" cy="530352"/>
          </a:xfrm>
          <a:prstGeom prst="ellipse">
            <a:avLst/>
          </a:prstGeom>
          <a:solidFill>
            <a:srgbClr val="151A24"/>
          </a:solidFill>
          <a:ln w="12700">
            <a:solidFill>
              <a:srgbClr val="242A3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3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51346" y="4657954"/>
            <a:ext cx="212141" cy="212141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7178040" y="4498848"/>
            <a:ext cx="4160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EAEC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Verifiable methodology</a:t>
            </a:r>
            <a:endParaRPr lang="en-US" sz="1700" dirty="0"/>
          </a:p>
        </p:txBody>
      </p:sp>
      <p:sp>
        <p:nvSpPr>
          <p:cNvPr id="25" name="Text 18"/>
          <p:cNvSpPr/>
          <p:nvPr/>
        </p:nvSpPr>
        <p:spPr>
          <a:xfrm>
            <a:off x="7178040" y="4937760"/>
            <a:ext cx="4160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9AA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On-chain, reproducible risk runs (roadmap) turn transparency into proof — a credibility moat.</a:t>
            </a:r>
            <a:endParaRPr lang="en-US" sz="1350" dirty="0"/>
          </a:p>
        </p:txBody>
      </p:sp>
      <p:sp>
        <p:nvSpPr>
          <p:cNvPr id="26" name="Text 19"/>
          <p:cNvSpPr/>
          <p:nvPr/>
        </p:nvSpPr>
        <p:spPr>
          <a:xfrm>
            <a:off x="640080" y="643737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646C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VEYLIX</a:t>
            </a:r>
            <a:r>
              <a:rPr lang="en-US" sz="900" kern="0" spc="200" dirty="0">
                <a:solidFill>
                  <a:srgbClr val="646C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09 / 21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C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566928" cy="566928"/>
          </a:xfrm>
          <a:prstGeom prst="ellipse">
            <a:avLst/>
          </a:prstGeom>
          <a:solidFill>
            <a:srgbClr val="151A24"/>
          </a:solidFill>
          <a:ln w="12700">
            <a:solidFill>
              <a:srgbClr val="242A3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0158" y="627278"/>
            <a:ext cx="226771" cy="22677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56692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7E8A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BUILT-IN, NOT BOLTED ON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640080" y="96012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300" b="1" dirty="0">
                <a:solidFill>
                  <a:srgbClr val="EAEC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Ethics, privacy &amp; safety.</a:t>
            </a:r>
            <a:endParaRPr lang="en-US" sz="3300" dirty="0"/>
          </a:p>
        </p:txBody>
      </p:sp>
      <p:sp>
        <p:nvSpPr>
          <p:cNvPr id="6" name="Shape 3"/>
          <p:cNvSpPr/>
          <p:nvPr/>
        </p:nvSpPr>
        <p:spPr>
          <a:xfrm>
            <a:off x="640080" y="2194560"/>
            <a:ext cx="3489960" cy="1874520"/>
          </a:xfrm>
          <a:prstGeom prst="roundRect">
            <a:avLst>
              <a:gd name="adj" fmla="val 4390"/>
            </a:avLst>
          </a:prstGeom>
          <a:solidFill>
            <a:srgbClr val="151A24"/>
          </a:solidFill>
          <a:ln w="12700">
            <a:solidFill>
              <a:srgbClr val="242A36"/>
            </a:solidFill>
            <a:prstDash val="solid"/>
          </a:ln>
          <a:effectLst>
            <a:outerShdw blurRad="1143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914400" y="2468880"/>
            <a:ext cx="530352" cy="530352"/>
          </a:xfrm>
          <a:prstGeom prst="ellipse">
            <a:avLst/>
          </a:prstGeom>
          <a:solidFill>
            <a:srgbClr val="151A24"/>
          </a:solidFill>
          <a:ln w="12700">
            <a:solidFill>
              <a:srgbClr val="242A3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3506" y="2627986"/>
            <a:ext cx="212141" cy="212141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914400" y="3108960"/>
            <a:ext cx="2941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AEC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Read-only by design</a:t>
            </a:r>
            <a:endParaRPr lang="en-US" sz="1600" dirty="0"/>
          </a:p>
        </p:txBody>
      </p:sp>
      <p:sp>
        <p:nvSpPr>
          <p:cNvPr id="10" name="Text 6"/>
          <p:cNvSpPr/>
          <p:nvPr/>
        </p:nvSpPr>
        <p:spPr>
          <a:xfrm>
            <a:off x="914400" y="3456432"/>
            <a:ext cx="3032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AA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Connects to Bybit read-only. Veylix can never place a trade or move your funds.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4358640" y="2194560"/>
            <a:ext cx="3489960" cy="1874520"/>
          </a:xfrm>
          <a:prstGeom prst="roundRect">
            <a:avLst>
              <a:gd name="adj" fmla="val 4390"/>
            </a:avLst>
          </a:prstGeom>
          <a:solidFill>
            <a:srgbClr val="151A24"/>
          </a:solidFill>
          <a:ln w="12700">
            <a:solidFill>
              <a:srgbClr val="242A36"/>
            </a:solidFill>
            <a:prstDash val="solid"/>
          </a:ln>
          <a:effectLst>
            <a:outerShdw blurRad="1143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8"/>
          <p:cNvSpPr/>
          <p:nvPr/>
        </p:nvSpPr>
        <p:spPr>
          <a:xfrm>
            <a:off x="4632960" y="2468880"/>
            <a:ext cx="530352" cy="530352"/>
          </a:xfrm>
          <a:prstGeom prst="ellipse">
            <a:avLst/>
          </a:prstGeom>
          <a:solidFill>
            <a:srgbClr val="151A24"/>
          </a:solidFill>
          <a:ln w="12700">
            <a:solidFill>
              <a:srgbClr val="242A3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92066" y="2627986"/>
            <a:ext cx="212141" cy="212141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632960" y="3108960"/>
            <a:ext cx="2941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AEC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custody, ever</a:t>
            </a:r>
            <a:endParaRPr lang="en-US" sz="1600" dirty="0"/>
          </a:p>
        </p:txBody>
      </p:sp>
      <p:sp>
        <p:nvSpPr>
          <p:cNvPr id="15" name="Text 10"/>
          <p:cNvSpPr/>
          <p:nvPr/>
        </p:nvSpPr>
        <p:spPr>
          <a:xfrm>
            <a:off x="4632960" y="3456432"/>
            <a:ext cx="3032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AA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never hold your assets, keys, or balances. Nothing to seize, nothing to hack.</a:t>
            </a:r>
            <a:endParaRPr lang="en-US" sz="1200" dirty="0"/>
          </a:p>
        </p:txBody>
      </p:sp>
      <p:sp>
        <p:nvSpPr>
          <p:cNvPr id="16" name="Shape 11"/>
          <p:cNvSpPr/>
          <p:nvPr/>
        </p:nvSpPr>
        <p:spPr>
          <a:xfrm>
            <a:off x="8077200" y="2194560"/>
            <a:ext cx="3489960" cy="1874520"/>
          </a:xfrm>
          <a:prstGeom prst="roundRect">
            <a:avLst>
              <a:gd name="adj" fmla="val 4390"/>
            </a:avLst>
          </a:prstGeom>
          <a:solidFill>
            <a:srgbClr val="151A24"/>
          </a:solidFill>
          <a:ln w="12700">
            <a:solidFill>
              <a:srgbClr val="242A36"/>
            </a:solidFill>
            <a:prstDash val="solid"/>
          </a:ln>
          <a:effectLst>
            <a:outerShdw blurRad="1143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2"/>
          <p:cNvSpPr/>
          <p:nvPr/>
        </p:nvSpPr>
        <p:spPr>
          <a:xfrm>
            <a:off x="8351520" y="2468880"/>
            <a:ext cx="530352" cy="530352"/>
          </a:xfrm>
          <a:prstGeom prst="ellipse">
            <a:avLst/>
          </a:prstGeom>
          <a:solidFill>
            <a:srgbClr val="151A24"/>
          </a:solidFill>
          <a:ln w="12700">
            <a:solidFill>
              <a:srgbClr val="242A3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10626" y="2627986"/>
            <a:ext cx="212141" cy="212141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8351520" y="3108960"/>
            <a:ext cx="2941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AEC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data stays with you</a:t>
            </a:r>
            <a:endParaRPr lang="en-US" sz="1600" dirty="0"/>
          </a:p>
        </p:txBody>
      </p:sp>
      <p:sp>
        <p:nvSpPr>
          <p:cNvPr id="20" name="Text 14"/>
          <p:cNvSpPr/>
          <p:nvPr/>
        </p:nvSpPr>
        <p:spPr>
          <a:xfrm>
            <a:off x="8351520" y="3456432"/>
            <a:ext cx="3032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AA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simulation runs client-side — your portfolio never leaves your browser.</a:t>
            </a:r>
            <a:endParaRPr lang="en-US" sz="1200" dirty="0"/>
          </a:p>
        </p:txBody>
      </p:sp>
      <p:sp>
        <p:nvSpPr>
          <p:cNvPr id="21" name="Shape 15"/>
          <p:cNvSpPr/>
          <p:nvPr/>
        </p:nvSpPr>
        <p:spPr>
          <a:xfrm>
            <a:off x="640080" y="4306824"/>
            <a:ext cx="3489960" cy="1874520"/>
          </a:xfrm>
          <a:prstGeom prst="roundRect">
            <a:avLst>
              <a:gd name="adj" fmla="val 4390"/>
            </a:avLst>
          </a:prstGeom>
          <a:solidFill>
            <a:srgbClr val="151A24"/>
          </a:solidFill>
          <a:ln w="12700">
            <a:solidFill>
              <a:srgbClr val="242A36"/>
            </a:solidFill>
            <a:prstDash val="solid"/>
          </a:ln>
          <a:effectLst>
            <a:outerShdw blurRad="1143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16"/>
          <p:cNvSpPr/>
          <p:nvPr/>
        </p:nvSpPr>
        <p:spPr>
          <a:xfrm>
            <a:off x="914400" y="4581144"/>
            <a:ext cx="530352" cy="530352"/>
          </a:xfrm>
          <a:prstGeom prst="ellipse">
            <a:avLst/>
          </a:prstGeom>
          <a:solidFill>
            <a:srgbClr val="151A24"/>
          </a:solidFill>
          <a:ln w="12700">
            <a:solidFill>
              <a:srgbClr val="242A3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3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3506" y="4740250"/>
            <a:ext cx="212141" cy="212141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914400" y="5221224"/>
            <a:ext cx="2941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AEC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Reproducible &amp; auditable</a:t>
            </a:r>
            <a:endParaRPr lang="en-US" sz="1600" dirty="0"/>
          </a:p>
        </p:txBody>
      </p:sp>
      <p:sp>
        <p:nvSpPr>
          <p:cNvPr id="25" name="Text 18"/>
          <p:cNvSpPr/>
          <p:nvPr/>
        </p:nvSpPr>
        <p:spPr>
          <a:xfrm>
            <a:off x="914400" y="5568696"/>
            <a:ext cx="3032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AA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Fixed-seed math, assumptions on screen. Same inputs, same outputs — every time.</a:t>
            </a:r>
            <a:endParaRPr lang="en-US" sz="1200" dirty="0"/>
          </a:p>
        </p:txBody>
      </p:sp>
      <p:sp>
        <p:nvSpPr>
          <p:cNvPr id="26" name="Shape 19"/>
          <p:cNvSpPr/>
          <p:nvPr/>
        </p:nvSpPr>
        <p:spPr>
          <a:xfrm>
            <a:off x="4358640" y="4306824"/>
            <a:ext cx="3489960" cy="1874520"/>
          </a:xfrm>
          <a:prstGeom prst="roundRect">
            <a:avLst>
              <a:gd name="adj" fmla="val 4390"/>
            </a:avLst>
          </a:prstGeom>
          <a:solidFill>
            <a:srgbClr val="151A24"/>
          </a:solidFill>
          <a:ln w="12700">
            <a:solidFill>
              <a:srgbClr val="242A36"/>
            </a:solidFill>
            <a:prstDash val="solid"/>
          </a:ln>
          <a:effectLst>
            <a:outerShdw blurRad="1143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Shape 20"/>
          <p:cNvSpPr/>
          <p:nvPr/>
        </p:nvSpPr>
        <p:spPr>
          <a:xfrm>
            <a:off x="4632960" y="4581144"/>
            <a:ext cx="530352" cy="530352"/>
          </a:xfrm>
          <a:prstGeom prst="ellipse">
            <a:avLst/>
          </a:prstGeom>
          <a:solidFill>
            <a:srgbClr val="151A24"/>
          </a:solidFill>
          <a:ln w="12700">
            <a:solidFill>
              <a:srgbClr val="242A3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8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92066" y="4740250"/>
            <a:ext cx="212141" cy="212141"/>
          </a:xfrm>
          <a:prstGeom prst="rect">
            <a:avLst/>
          </a:prstGeom>
        </p:spPr>
      </p:pic>
      <p:sp>
        <p:nvSpPr>
          <p:cNvPr id="29" name="Text 21"/>
          <p:cNvSpPr/>
          <p:nvPr/>
        </p:nvSpPr>
        <p:spPr>
          <a:xfrm>
            <a:off x="4632960" y="5221224"/>
            <a:ext cx="2941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AEC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advice, no predictions</a:t>
            </a:r>
            <a:endParaRPr lang="en-US" sz="1600" dirty="0"/>
          </a:p>
        </p:txBody>
      </p:sp>
      <p:sp>
        <p:nvSpPr>
          <p:cNvPr id="30" name="Text 22"/>
          <p:cNvSpPr/>
          <p:nvPr/>
        </p:nvSpPr>
        <p:spPr>
          <a:xfrm>
            <a:off x="4632960" y="5568696"/>
            <a:ext cx="3032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AA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Surfaces risk; never recommends. Models dispersion, not future returns.</a:t>
            </a:r>
            <a:endParaRPr lang="en-US" sz="1200" dirty="0"/>
          </a:p>
        </p:txBody>
      </p:sp>
      <p:sp>
        <p:nvSpPr>
          <p:cNvPr id="31" name="Shape 23"/>
          <p:cNvSpPr/>
          <p:nvPr/>
        </p:nvSpPr>
        <p:spPr>
          <a:xfrm>
            <a:off x="8077200" y="4306824"/>
            <a:ext cx="3489960" cy="1874520"/>
          </a:xfrm>
          <a:prstGeom prst="roundRect">
            <a:avLst>
              <a:gd name="adj" fmla="val 4390"/>
            </a:avLst>
          </a:prstGeom>
          <a:solidFill>
            <a:srgbClr val="151A24"/>
          </a:solidFill>
          <a:ln w="12700">
            <a:solidFill>
              <a:srgbClr val="242A36"/>
            </a:solidFill>
            <a:prstDash val="solid"/>
          </a:ln>
          <a:effectLst>
            <a:outerShdw blurRad="1143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2" name="Shape 24"/>
          <p:cNvSpPr/>
          <p:nvPr/>
        </p:nvSpPr>
        <p:spPr>
          <a:xfrm>
            <a:off x="8351520" y="4581144"/>
            <a:ext cx="530352" cy="530352"/>
          </a:xfrm>
          <a:prstGeom prst="ellipse">
            <a:avLst/>
          </a:prstGeom>
          <a:solidFill>
            <a:srgbClr val="151A24"/>
          </a:solidFill>
          <a:ln w="12700">
            <a:solidFill>
              <a:srgbClr val="242A3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3" name="Image 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510626" y="4740250"/>
            <a:ext cx="212141" cy="212141"/>
          </a:xfrm>
          <a:prstGeom prst="rect">
            <a:avLst/>
          </a:prstGeom>
        </p:spPr>
      </p:pic>
      <p:sp>
        <p:nvSpPr>
          <p:cNvPr id="34" name="Text 25"/>
          <p:cNvSpPr/>
          <p:nvPr/>
        </p:nvSpPr>
        <p:spPr>
          <a:xfrm>
            <a:off x="8351520" y="5221224"/>
            <a:ext cx="2941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AEC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GDPR-aligned by default</a:t>
            </a:r>
            <a:endParaRPr lang="en-US" sz="1600" dirty="0"/>
          </a:p>
        </p:txBody>
      </p:sp>
      <p:sp>
        <p:nvSpPr>
          <p:cNvPr id="35" name="Text 26"/>
          <p:cNvSpPr/>
          <p:nvPr/>
        </p:nvSpPr>
        <p:spPr>
          <a:xfrm>
            <a:off x="8351520" y="5568696"/>
            <a:ext cx="3032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AA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Minimal data, clear purpose. No third-party ad use, no resale.</a:t>
            </a:r>
            <a:endParaRPr lang="en-US" sz="1200" dirty="0"/>
          </a:p>
        </p:txBody>
      </p:sp>
      <p:sp>
        <p:nvSpPr>
          <p:cNvPr id="36" name="Text 27"/>
          <p:cNvSpPr/>
          <p:nvPr/>
        </p:nvSpPr>
        <p:spPr>
          <a:xfrm>
            <a:off x="640080" y="643737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646C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VEYLIX</a:t>
            </a:r>
            <a:r>
              <a:rPr lang="en-US" sz="900" kern="0" spc="200" dirty="0">
                <a:solidFill>
                  <a:srgbClr val="646C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10 / 21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C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7E8A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IMPACT · SUSTAINABLE DEVELOPMENT GOALS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41248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300" b="1" dirty="0">
                <a:solidFill>
                  <a:srgbClr val="EAEC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for impact.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3459480" cy="3383280"/>
          </a:xfrm>
          <a:prstGeom prst="roundRect">
            <a:avLst>
              <a:gd name="adj" fmla="val 2432"/>
            </a:avLst>
          </a:prstGeom>
          <a:solidFill>
            <a:srgbClr val="151A24"/>
          </a:solidFill>
          <a:ln w="12700">
            <a:solidFill>
              <a:srgbClr val="242A36"/>
            </a:solidFill>
            <a:prstDash val="solid"/>
          </a:ln>
          <a:effectLst>
            <a:outerShdw blurRad="1143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932688" y="2167128"/>
            <a:ext cx="1097280" cy="384048"/>
          </a:xfrm>
          <a:prstGeom prst="roundRect">
            <a:avLst>
              <a:gd name="adj" fmla="val 11905"/>
            </a:avLst>
          </a:prstGeom>
          <a:solidFill>
            <a:srgbClr val="7E8AF5"/>
          </a:solidFill>
          <a:ln w="12700">
            <a:solidFill>
              <a:srgbClr val="7E8A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932688" y="2167128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100" dirty="0">
                <a:solidFill>
                  <a:srgbClr val="0A0C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SDG 10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14400" y="2743200"/>
            <a:ext cx="2956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i="1" dirty="0">
                <a:solidFill>
                  <a:srgbClr val="7E8A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~80%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932688" y="3657600"/>
            <a:ext cx="2910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9AA1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OF LEVERAGED RETAIL TRADERS LOSE MONEY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932688" y="4160520"/>
            <a:ext cx="2910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EAEC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Reduced Inequalities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932688" y="4572000"/>
            <a:ext cx="28925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AA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 gets the same pre-trade risk visibility institutions have — closing the asymmetry.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373880" y="1874520"/>
            <a:ext cx="3459480" cy="3383280"/>
          </a:xfrm>
          <a:prstGeom prst="roundRect">
            <a:avLst>
              <a:gd name="adj" fmla="val 2432"/>
            </a:avLst>
          </a:prstGeom>
          <a:solidFill>
            <a:srgbClr val="151A24"/>
          </a:solidFill>
          <a:ln w="12700">
            <a:solidFill>
              <a:srgbClr val="242A36"/>
            </a:solidFill>
            <a:prstDash val="solid"/>
          </a:ln>
          <a:effectLst>
            <a:outerShdw blurRad="1143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4666488" y="2167128"/>
            <a:ext cx="1097280" cy="384048"/>
          </a:xfrm>
          <a:prstGeom prst="roundRect">
            <a:avLst>
              <a:gd name="adj" fmla="val 11905"/>
            </a:avLst>
          </a:prstGeom>
          <a:solidFill>
            <a:srgbClr val="52C7E8"/>
          </a:solidFill>
          <a:ln w="12700">
            <a:solidFill>
              <a:srgbClr val="52C7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666488" y="2167128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100" dirty="0">
                <a:solidFill>
                  <a:srgbClr val="0A0C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SDG 8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648200" y="2743200"/>
            <a:ext cx="2956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i="1" dirty="0">
                <a:solidFill>
                  <a:srgbClr val="52C7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741M</a:t>
            </a:r>
            <a:endParaRPr lang="en-US" sz="4000" dirty="0"/>
          </a:p>
        </p:txBody>
      </p:sp>
      <p:sp>
        <p:nvSpPr>
          <p:cNvPr id="15" name="Text 13"/>
          <p:cNvSpPr/>
          <p:nvPr/>
        </p:nvSpPr>
        <p:spPr>
          <a:xfrm>
            <a:off x="4666488" y="3657600"/>
            <a:ext cx="2910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9AA1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CRYPTO OWNERS EXPOSED TO VOLATILE RISK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666488" y="4160520"/>
            <a:ext cx="2910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EAEC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Decent Work &amp; Growth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4666488" y="4572000"/>
            <a:ext cx="28925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AA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Seeing and limiting avoidable, leverage-driven losses builds a healthier market.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8107680" y="1874520"/>
            <a:ext cx="3459480" cy="3383280"/>
          </a:xfrm>
          <a:prstGeom prst="roundRect">
            <a:avLst>
              <a:gd name="adj" fmla="val 2432"/>
            </a:avLst>
          </a:prstGeom>
          <a:solidFill>
            <a:srgbClr val="151A24"/>
          </a:solidFill>
          <a:ln w="12700">
            <a:solidFill>
              <a:srgbClr val="242A36"/>
            </a:solidFill>
            <a:prstDash val="solid"/>
          </a:ln>
          <a:effectLst>
            <a:outerShdw blurRad="1143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8400288" y="2167128"/>
            <a:ext cx="1097280" cy="384048"/>
          </a:xfrm>
          <a:prstGeom prst="roundRect">
            <a:avLst>
              <a:gd name="adj" fmla="val 11905"/>
            </a:avLst>
          </a:prstGeom>
          <a:solidFill>
            <a:srgbClr val="9B86F0"/>
          </a:solidFill>
          <a:ln w="12700">
            <a:solidFill>
              <a:srgbClr val="9B86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8400288" y="2167128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100" dirty="0">
                <a:solidFill>
                  <a:srgbClr val="0A0C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SDG 4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8382000" y="2743200"/>
            <a:ext cx="2956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i="1" dirty="0">
                <a:solidFill>
                  <a:srgbClr val="9B8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in 20</a:t>
            </a:r>
            <a:endParaRPr lang="en-US" sz="4000" dirty="0"/>
          </a:p>
        </p:txBody>
      </p:sp>
      <p:sp>
        <p:nvSpPr>
          <p:cNvPr id="22" name="Text 20"/>
          <p:cNvSpPr/>
          <p:nvPr/>
        </p:nvSpPr>
        <p:spPr>
          <a:xfrm>
            <a:off x="8400288" y="3657600"/>
            <a:ext cx="2910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9AA1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WORST CASE, FINALLY MADE VISIBLE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8400288" y="4160520"/>
            <a:ext cx="2910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EAEC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Quality Education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8400288" y="4572000"/>
            <a:ext cx="28925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AA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Education, not advice — every number explained. Risk literacy before the trade.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640080" y="5532120"/>
            <a:ext cx="10927080" cy="566928"/>
          </a:xfrm>
          <a:prstGeom prst="roundRect">
            <a:avLst>
              <a:gd name="adj" fmla="val 14516"/>
            </a:avLst>
          </a:prstGeom>
          <a:solidFill>
            <a:srgbClr val="11151D"/>
          </a:solidFill>
          <a:ln w="12700">
            <a:solidFill>
              <a:srgbClr val="242A36"/>
            </a:solidFill>
            <a:prstDash val="solid"/>
          </a:ln>
          <a:effectLst>
            <a:outerShdw blurRad="1143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914400" y="5568696"/>
            <a:ext cx="104241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7E8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We're not rewarding the biggest bet.  </a:t>
            </a:r>
            <a:r>
              <a:rPr lang="en-US" sz="1400" dirty="0">
                <a:solidFill>
                  <a:srgbClr val="EAE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We're building a fairer system — the one institutions kept to themselves.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40080" y="643737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646C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VEYLIX</a:t>
            </a:r>
            <a:r>
              <a:rPr lang="en-US" sz="900" kern="0" spc="200" dirty="0">
                <a:solidFill>
                  <a:srgbClr val="646C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11 / 21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0C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Circle"/>
          <p:cNvSpPr/>
          <p:nvPr/>
        </p:nvSpPr>
        <p:spPr>
          <a:xfrm>
            <a:off x="640080" y="457200"/>
            <a:ext cx="566928" cy="566928"/>
          </a:xfrm>
          <a:prstGeom prst="ellipse">
            <a:avLst/>
          </a:prstGeom>
          <a:solidFill>
            <a:srgbClr val="151A24"/>
          </a:solidFill>
          <a:ln w="12700">
            <a:solidFill>
              <a:srgbClr val="242A36"/>
            </a:solidFill>
          </a:ln>
        </p:spPr>
        <p:txBody>
          <a:bodyPr/>
          <a:lstStyle/>
          <a:p>
            <a:endParaRPr lang="en-US"/>
          </a:p>
        </p:txBody>
      </p:sp>
      <p:pic>
        <p:nvPicPr>
          <p:cNvPr id="3" name="IconImg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0158" y="627278"/>
            <a:ext cx="226771" cy="226771"/>
          </a:xfrm>
          <a:prstGeom prst="rect">
            <a:avLst/>
          </a:prstGeom>
        </p:spPr>
      </p:pic>
      <p:sp>
        <p:nvSpPr>
          <p:cNvPr id="4" name="Label"/>
          <p:cNvSpPr/>
          <p:nvPr/>
        </p:nvSpPr>
        <p:spPr>
          <a:xfrm>
            <a:off x="1371600" y="566928"/>
            <a:ext cx="1000000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lang="en-US" sz="1200" b="1" spc="300" dirty="0">
                <a:solidFill>
                  <a:srgbClr val="7E8AF5"/>
                </a:solidFill>
                <a:latin typeface="Courier New"/>
                <a:cs typeface="Courier New"/>
              </a:rPr>
              <a:t>MARKET — THE OPPORTUNITY</a:t>
            </a:r>
          </a:p>
        </p:txBody>
      </p:sp>
      <p:sp>
        <p:nvSpPr>
          <p:cNvPr id="5" name="Headline"/>
          <p:cNvSpPr/>
          <p:nvPr/>
        </p:nvSpPr>
        <p:spPr>
          <a:xfrm>
            <a:off x="640080" y="960120"/>
            <a:ext cx="10881360" cy="70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>
              <a:buNone/>
            </a:pPr>
            <a:r>
              <a:rPr lang="en-US" sz="3300" b="1" dirty="0">
                <a:solidFill>
                  <a:srgbClr val="EAECF2"/>
                </a:solidFill>
                <a:latin typeface="Arial"/>
                <a:cs typeface="Arial"/>
              </a:rPr>
              <a:t>A multi-billion-dollar convergence.</a:t>
            </a:r>
          </a:p>
        </p:txBody>
      </p:sp>
      <p:pic>
        <p:nvPicPr>
          <p:cNvPr id="6" name="ConvergenceChart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2011680"/>
            <a:ext cx="6492240" cy="4051158"/>
          </a:xfrm>
          <a:prstGeom prst="rect">
            <a:avLst/>
          </a:prstGeom>
        </p:spPr>
      </p:pic>
      <p:sp>
        <p:nvSpPr>
          <p:cNvPr id="7" name="RightCard"/>
          <p:cNvSpPr/>
          <p:nvPr/>
        </p:nvSpPr>
        <p:spPr>
          <a:xfrm>
            <a:off x="7315200" y="2011680"/>
            <a:ext cx="4297680" cy="4051158"/>
          </a:xfrm>
          <a:prstGeom prst="roundRect">
            <a:avLst>
              <a:gd name="adj" fmla="val 3000"/>
            </a:avLst>
          </a:prstGeom>
          <a:solidFill>
            <a:srgbClr val="151A24"/>
          </a:solidFill>
          <a:ln w="12700">
            <a:solidFill>
              <a:srgbClr val="242A36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8" name="RCLabel"/>
          <p:cNvSpPr/>
          <p:nvPr/>
        </p:nvSpPr>
        <p:spPr>
          <a:xfrm>
            <a:off x="7680960" y="2331720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lang="en-US" sz="1100" b="1" spc="200" dirty="0">
                <a:solidFill>
                  <a:srgbClr val="9AA1B2"/>
                </a:solidFill>
                <a:latin typeface="Courier New"/>
                <a:cs typeface="Courier New"/>
              </a:rPr>
              <a:t>THREE FORCES, ONE MOMENT</a:t>
            </a:r>
          </a:p>
        </p:txBody>
      </p:sp>
      <p:sp>
        <p:nvSpPr>
          <p:cNvPr id="9" name="Stat1"/>
          <p:cNvSpPr/>
          <p:nvPr/>
        </p:nvSpPr>
        <p:spPr>
          <a:xfrm>
            <a:off x="7680960" y="2697480"/>
            <a:ext cx="3657600" cy="990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>
              <a:buNone/>
            </a:pPr>
            <a:r>
              <a:rPr lang="en-US" sz="4000" b="1" dirty="0">
                <a:solidFill>
                  <a:srgbClr val="E6A23C"/>
                </a:solidFill>
                <a:latin typeface="Arial"/>
                <a:cs typeface="Arial"/>
              </a:rPr>
              <a:t>$30B+</a:t>
            </a:r>
          </a:p>
          <a:p>
            <a:pPr marL="0" indent="0">
              <a:buNone/>
            </a:pPr>
            <a:r>
              <a:rPr lang="en-US" sz="1400" dirty="0">
                <a:solidFill>
                  <a:srgbClr val="9AA1B2"/>
                </a:solidFill>
                <a:latin typeface="Calibri"/>
                <a:cs typeface="Calibri"/>
              </a:rPr>
              <a:t>Combined TAM by 2030 across adjacent crypto markets</a:t>
            </a:r>
          </a:p>
        </p:txBody>
      </p:sp>
      <p:sp>
        <p:nvSpPr>
          <p:cNvPr id="10" name="Stat2"/>
          <p:cNvSpPr/>
          <p:nvPr/>
        </p:nvSpPr>
        <p:spPr>
          <a:xfrm>
            <a:off x="7680960" y="3779520"/>
            <a:ext cx="3657600" cy="85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>
              <a:buNone/>
            </a:pPr>
            <a:r>
              <a:rPr lang="en-US" sz="4000" b="1" dirty="0">
                <a:solidFill>
                  <a:srgbClr val="7E8AF5"/>
                </a:solidFill>
                <a:latin typeface="Arial"/>
                <a:cs typeface="Arial"/>
              </a:rPr>
              <a:t>~30%</a:t>
            </a:r>
          </a:p>
          <a:p>
            <a:pPr marL="0" indent="0">
              <a:buNone/>
            </a:pPr>
            <a:r>
              <a:rPr lang="en-US" sz="1400" dirty="0">
                <a:solidFill>
                  <a:srgbClr val="9AA1B2"/>
                </a:solidFill>
                <a:latin typeface="Calibri"/>
                <a:cs typeface="Calibri"/>
              </a:rPr>
              <a:t>Crypto asset-management CAGR to 2030</a:t>
            </a:r>
          </a:p>
        </p:txBody>
      </p:sp>
      <p:sp>
        <p:nvSpPr>
          <p:cNvPr id="11" name="Stat3"/>
          <p:cNvSpPr/>
          <p:nvPr/>
        </p:nvSpPr>
        <p:spPr>
          <a:xfrm>
            <a:off x="7680960" y="4721400"/>
            <a:ext cx="3657600" cy="990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>
              <a:buNone/>
            </a:pPr>
            <a:r>
              <a:rPr lang="en-US" sz="4000" b="1" dirty="0">
                <a:solidFill>
                  <a:srgbClr val="3FB8A0"/>
                </a:solidFill>
                <a:latin typeface="Arial"/>
                <a:cs typeface="Arial"/>
              </a:rPr>
              <a:t>741M</a:t>
            </a:r>
          </a:p>
          <a:p>
            <a:pPr marL="0" indent="0">
              <a:buNone/>
            </a:pPr>
            <a:r>
              <a:rPr lang="en-US" sz="1400" dirty="0">
                <a:solidFill>
                  <a:srgbClr val="9AA1B2"/>
                </a:solidFill>
                <a:latin typeface="Calibri"/>
                <a:cs typeface="Calibri"/>
              </a:rPr>
              <a:t>Crypto owners exposed — and ~80% lose money. Plus MiCA &amp; FCA forcing transparency now.</a:t>
            </a:r>
          </a:p>
        </p:txBody>
      </p:sp>
      <p:sp>
        <p:nvSpPr>
          <p:cNvPr id="12" name="Sources"/>
          <p:cNvSpPr/>
          <p:nvPr/>
        </p:nvSpPr>
        <p:spPr>
          <a:xfrm>
            <a:off x="548640" y="6187440"/>
            <a:ext cx="6500000" cy="24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6C7C"/>
                </a:solidFill>
                <a:latin typeface="Calibri"/>
                <a:cs typeface="Calibri"/>
              </a:rPr>
              <a:t>Crypto asset management: Fortune Business Insights / Grand View, 2025. Adjacent segments illustrative estimates.</a:t>
            </a:r>
          </a:p>
        </p:txBody>
      </p:sp>
      <p:sp>
        <p:nvSpPr>
          <p:cNvPr id="13" name="Footer"/>
          <p:cNvSpPr/>
          <p:nvPr/>
        </p:nvSpPr>
        <p:spPr>
          <a:xfrm>
            <a:off x="640080" y="6437376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lang="en-US" sz="900" b="1" spc="200" dirty="0">
                <a:solidFill>
                  <a:srgbClr val="646C7C"/>
                </a:solidFill>
                <a:latin typeface="Courier New"/>
                <a:cs typeface="Courier New"/>
              </a:rPr>
              <a:t>VEYLIX</a:t>
            </a:r>
            <a:r>
              <a:rPr lang="en-US" sz="900" spc="200" dirty="0">
                <a:solidFill>
                  <a:srgbClr val="646C7C"/>
                </a:solidFill>
                <a:latin typeface="Courier New"/>
                <a:cs typeface="Courier New"/>
              </a:rPr>
              <a:t>   12 / 21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0C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566928" cy="566928"/>
          </a:xfrm>
          <a:prstGeom prst="ellipse">
            <a:avLst/>
          </a:prstGeom>
          <a:solidFill>
            <a:srgbClr val="151A24"/>
          </a:solidFill>
          <a:ln w="12700">
            <a:solidFill>
              <a:srgbClr val="242A3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0158" y="627278"/>
            <a:ext cx="226771" cy="22677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56692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7E8A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GO-TO-MARKET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640080" y="96012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300" b="1" dirty="0">
                <a:solidFill>
                  <a:srgbClr val="EAEC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Land where the risk already lives.</a:t>
            </a:r>
            <a:endParaRPr lang="en-US" sz="3300" dirty="0"/>
          </a:p>
        </p:txBody>
      </p:sp>
      <p:sp>
        <p:nvSpPr>
          <p:cNvPr id="6" name="Shape 3"/>
          <p:cNvSpPr/>
          <p:nvPr/>
        </p:nvSpPr>
        <p:spPr>
          <a:xfrm>
            <a:off x="640080" y="2194560"/>
            <a:ext cx="2606040" cy="2788920"/>
          </a:xfrm>
          <a:prstGeom prst="roundRect">
            <a:avLst>
              <a:gd name="adj" fmla="val 3158"/>
            </a:avLst>
          </a:prstGeom>
          <a:solidFill>
            <a:srgbClr val="151A24"/>
          </a:solidFill>
          <a:ln w="12700">
            <a:solidFill>
              <a:srgbClr val="242A36"/>
            </a:solidFill>
            <a:prstDash val="solid"/>
          </a:ln>
          <a:effectLst>
            <a:outerShdw blurRad="1143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731520" y="2194560"/>
            <a:ext cx="2423160" cy="50292"/>
          </a:xfrm>
          <a:prstGeom prst="rect">
            <a:avLst/>
          </a:prstGeom>
          <a:solidFill>
            <a:srgbClr val="7E8AF5"/>
          </a:solidFill>
          <a:ln w="12700">
            <a:solidFill>
              <a:srgbClr val="7E8A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896112" y="2432304"/>
            <a:ext cx="209397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7E8A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3000" dirty="0"/>
          </a:p>
        </p:txBody>
      </p:sp>
      <p:sp>
        <p:nvSpPr>
          <p:cNvPr id="9" name="Text 6"/>
          <p:cNvSpPr/>
          <p:nvPr/>
        </p:nvSpPr>
        <p:spPr>
          <a:xfrm>
            <a:off x="896112" y="3108960"/>
            <a:ext cx="20939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EAEC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Beachhead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896112" y="3520440"/>
            <a:ext cx="209397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AA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on Bybit — live data + an 80M-user base, and our hackathon partner.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3493008" y="2194560"/>
            <a:ext cx="2606040" cy="2788920"/>
          </a:xfrm>
          <a:prstGeom prst="roundRect">
            <a:avLst>
              <a:gd name="adj" fmla="val 3158"/>
            </a:avLst>
          </a:prstGeom>
          <a:solidFill>
            <a:srgbClr val="151A24"/>
          </a:solidFill>
          <a:ln w="12700">
            <a:solidFill>
              <a:srgbClr val="242A36"/>
            </a:solidFill>
            <a:prstDash val="solid"/>
          </a:ln>
          <a:effectLst>
            <a:outerShdw blurRad="1143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3584448" y="2194560"/>
            <a:ext cx="2423160" cy="50292"/>
          </a:xfrm>
          <a:prstGeom prst="rect">
            <a:avLst/>
          </a:prstGeom>
          <a:solidFill>
            <a:srgbClr val="7E8AF5"/>
          </a:solidFill>
          <a:ln w="12700">
            <a:solidFill>
              <a:srgbClr val="7E8A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3749040" y="2432304"/>
            <a:ext cx="209397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7E8A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3000" dirty="0"/>
          </a:p>
        </p:txBody>
      </p:sp>
      <p:sp>
        <p:nvSpPr>
          <p:cNvPr id="14" name="Text 11"/>
          <p:cNvSpPr/>
          <p:nvPr/>
        </p:nvSpPr>
        <p:spPr>
          <a:xfrm>
            <a:off x="3749040" y="3108960"/>
            <a:ext cx="20939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EAEC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Wedge</a:t>
            </a:r>
            <a:endParaRPr lang="en-US" sz="1700" dirty="0"/>
          </a:p>
        </p:txBody>
      </p:sp>
      <p:sp>
        <p:nvSpPr>
          <p:cNvPr id="15" name="Text 12"/>
          <p:cNvSpPr/>
          <p:nvPr/>
        </p:nvSpPr>
        <p:spPr>
          <a:xfrm>
            <a:off x="3749040" y="3520440"/>
            <a:ext cx="209397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AA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free risk lens on the account you already have. Zero switching cost.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6345936" y="2194560"/>
            <a:ext cx="2606040" cy="2788920"/>
          </a:xfrm>
          <a:prstGeom prst="roundRect">
            <a:avLst>
              <a:gd name="adj" fmla="val 3158"/>
            </a:avLst>
          </a:prstGeom>
          <a:solidFill>
            <a:srgbClr val="151A24"/>
          </a:solidFill>
          <a:ln w="12700">
            <a:solidFill>
              <a:srgbClr val="242A36"/>
            </a:solidFill>
            <a:prstDash val="solid"/>
          </a:ln>
          <a:effectLst>
            <a:outerShdw blurRad="1143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4"/>
          <p:cNvSpPr/>
          <p:nvPr/>
        </p:nvSpPr>
        <p:spPr>
          <a:xfrm>
            <a:off x="6437376" y="2194560"/>
            <a:ext cx="2423160" cy="50292"/>
          </a:xfrm>
          <a:prstGeom prst="rect">
            <a:avLst/>
          </a:prstGeom>
          <a:solidFill>
            <a:srgbClr val="7E8AF5"/>
          </a:solidFill>
          <a:ln w="12700">
            <a:solidFill>
              <a:srgbClr val="7E8A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6601968" y="2432304"/>
            <a:ext cx="209397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7E8A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3000" dirty="0"/>
          </a:p>
        </p:txBody>
      </p:sp>
      <p:sp>
        <p:nvSpPr>
          <p:cNvPr id="19" name="Text 16"/>
          <p:cNvSpPr/>
          <p:nvPr/>
        </p:nvSpPr>
        <p:spPr>
          <a:xfrm>
            <a:off x="6601968" y="3108960"/>
            <a:ext cx="20939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EAEC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Channels</a:t>
            </a:r>
            <a:endParaRPr lang="en-US" sz="1700" dirty="0"/>
          </a:p>
        </p:txBody>
      </p:sp>
      <p:sp>
        <p:nvSpPr>
          <p:cNvPr id="20" name="Text 17"/>
          <p:cNvSpPr/>
          <p:nvPr/>
        </p:nvSpPr>
        <p:spPr>
          <a:xfrm>
            <a:off x="6601968" y="3520440"/>
            <a:ext cx="209397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AA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Crypto communities (X, Discord, Reddit), risk-literacy content, exchange &amp; wallet partnerships.</a:t>
            </a:r>
            <a:endParaRPr lang="en-US" sz="1300" dirty="0"/>
          </a:p>
        </p:txBody>
      </p:sp>
      <p:sp>
        <p:nvSpPr>
          <p:cNvPr id="21" name="Shape 18"/>
          <p:cNvSpPr/>
          <p:nvPr/>
        </p:nvSpPr>
        <p:spPr>
          <a:xfrm>
            <a:off x="9198864" y="2194560"/>
            <a:ext cx="2606040" cy="2788920"/>
          </a:xfrm>
          <a:prstGeom prst="roundRect">
            <a:avLst>
              <a:gd name="adj" fmla="val 3158"/>
            </a:avLst>
          </a:prstGeom>
          <a:solidFill>
            <a:srgbClr val="151A24"/>
          </a:solidFill>
          <a:ln w="12700">
            <a:solidFill>
              <a:srgbClr val="242A36"/>
            </a:solidFill>
            <a:prstDash val="solid"/>
          </a:ln>
          <a:effectLst>
            <a:outerShdw blurRad="1143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19"/>
          <p:cNvSpPr/>
          <p:nvPr/>
        </p:nvSpPr>
        <p:spPr>
          <a:xfrm>
            <a:off x="9290304" y="2194560"/>
            <a:ext cx="2423160" cy="50292"/>
          </a:xfrm>
          <a:prstGeom prst="rect">
            <a:avLst/>
          </a:prstGeom>
          <a:solidFill>
            <a:srgbClr val="7E8AF5"/>
          </a:solidFill>
          <a:ln w="12700">
            <a:solidFill>
              <a:srgbClr val="7E8A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0"/>
          <p:cNvSpPr/>
          <p:nvPr/>
        </p:nvSpPr>
        <p:spPr>
          <a:xfrm>
            <a:off x="9454896" y="2432304"/>
            <a:ext cx="209397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7E8A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3000" dirty="0"/>
          </a:p>
        </p:txBody>
      </p:sp>
      <p:sp>
        <p:nvSpPr>
          <p:cNvPr id="24" name="Text 21"/>
          <p:cNvSpPr/>
          <p:nvPr/>
        </p:nvSpPr>
        <p:spPr>
          <a:xfrm>
            <a:off x="9454896" y="3108960"/>
            <a:ext cx="20939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EAEC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Expand</a:t>
            </a:r>
            <a:endParaRPr lang="en-US" sz="1700" dirty="0"/>
          </a:p>
        </p:txBody>
      </p:sp>
      <p:sp>
        <p:nvSpPr>
          <p:cNvPr id="25" name="Text 22"/>
          <p:cNvSpPr/>
          <p:nvPr/>
        </p:nvSpPr>
        <p:spPr>
          <a:xfrm>
            <a:off x="9454896" y="3520440"/>
            <a:ext cx="209397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AA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Multi-exchange + on-chain wallets, risk alerts, then B2B embeds.</a:t>
            </a:r>
            <a:endParaRPr lang="en-US" sz="1300" dirty="0"/>
          </a:p>
        </p:txBody>
      </p:sp>
      <p:sp>
        <p:nvSpPr>
          <p:cNvPr id="26" name="Shape 23"/>
          <p:cNvSpPr/>
          <p:nvPr/>
        </p:nvSpPr>
        <p:spPr>
          <a:xfrm>
            <a:off x="640080" y="5212080"/>
            <a:ext cx="10927080" cy="841248"/>
          </a:xfrm>
          <a:prstGeom prst="roundRect">
            <a:avLst>
              <a:gd name="adj" fmla="val 9783"/>
            </a:avLst>
          </a:prstGeom>
          <a:solidFill>
            <a:srgbClr val="11151D"/>
          </a:solidFill>
          <a:ln w="12700">
            <a:solidFill>
              <a:srgbClr val="242A36"/>
            </a:solidFill>
            <a:prstDash val="solid"/>
          </a:ln>
          <a:effectLst>
            <a:outerShdw blurRad="1143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Text 24"/>
          <p:cNvSpPr/>
          <p:nvPr/>
        </p:nvSpPr>
        <p:spPr>
          <a:xfrm>
            <a:off x="914400" y="5266944"/>
            <a:ext cx="10424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7E8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motion:  </a:t>
            </a:r>
            <a:r>
              <a:rPr lang="en-US" sz="1400" dirty="0">
                <a:solidFill>
                  <a:srgbClr val="EAE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free risk lens wins retail at zero switching cost → usage proves the value → platforms license the layer they can't build themselves. Acquisition is free; revenue is B2B.</a:t>
            </a:r>
            <a:endParaRPr lang="en-US" sz="1400" dirty="0"/>
          </a:p>
        </p:txBody>
      </p:sp>
      <p:sp>
        <p:nvSpPr>
          <p:cNvPr id="28" name="Text 25"/>
          <p:cNvSpPr/>
          <p:nvPr/>
        </p:nvSpPr>
        <p:spPr>
          <a:xfrm>
            <a:off x="640080" y="643737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646C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VEYLIX</a:t>
            </a:r>
            <a:r>
              <a:rPr lang="en-US" sz="900" kern="0" spc="200" dirty="0">
                <a:solidFill>
                  <a:srgbClr val="646C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13 / 21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0C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566928" cy="566928"/>
          </a:xfrm>
          <a:prstGeom prst="ellipse">
            <a:avLst/>
          </a:prstGeom>
          <a:solidFill>
            <a:srgbClr val="151A24"/>
          </a:solidFill>
          <a:ln w="12700">
            <a:solidFill>
              <a:srgbClr val="242A3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0158" y="627278"/>
            <a:ext cx="226771" cy="22677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56692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7E8A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PRICING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640080" y="96012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300" b="1" dirty="0">
                <a:solidFill>
                  <a:srgbClr val="EAEC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for retail. No subscription.</a:t>
            </a:r>
            <a:endParaRPr lang="en-US" sz="3300" dirty="0"/>
          </a:p>
        </p:txBody>
      </p:sp>
      <p:sp>
        <p:nvSpPr>
          <p:cNvPr id="6" name="Shape 3"/>
          <p:cNvSpPr/>
          <p:nvPr/>
        </p:nvSpPr>
        <p:spPr>
          <a:xfrm>
            <a:off x="640080" y="1828800"/>
            <a:ext cx="2580894" cy="3931920"/>
          </a:xfrm>
          <a:prstGeom prst="roundRect">
            <a:avLst>
              <a:gd name="adj" fmla="val 3189"/>
            </a:avLst>
          </a:prstGeom>
          <a:solidFill>
            <a:srgbClr val="141A2B"/>
          </a:solidFill>
          <a:ln w="12700">
            <a:solidFill>
              <a:srgbClr val="242A36"/>
            </a:solidFill>
            <a:prstDash val="solid"/>
          </a:ln>
          <a:effectLst>
            <a:outerShdw blurRad="1143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731520" y="1828800"/>
            <a:ext cx="2398014" cy="54864"/>
          </a:xfrm>
          <a:prstGeom prst="rect">
            <a:avLst/>
          </a:prstGeom>
          <a:solidFill>
            <a:srgbClr val="52C7E8"/>
          </a:solidFill>
          <a:ln w="12700">
            <a:solidFill>
              <a:srgbClr val="52C7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1272159" y="1673352"/>
            <a:ext cx="1316736" cy="310896"/>
          </a:xfrm>
          <a:prstGeom prst="roundRect">
            <a:avLst>
              <a:gd name="adj" fmla="val 50000"/>
            </a:avLst>
          </a:prstGeom>
          <a:solidFill>
            <a:srgbClr val="52C7E8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1272159" y="1673352"/>
            <a:ext cx="13167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kern="0" spc="100" dirty="0">
                <a:solidFill>
                  <a:srgbClr val="0A0C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ALWAYS FREE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914400" y="2121408"/>
            <a:ext cx="203225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52C7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FREE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914400" y="2487168"/>
            <a:ext cx="203225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EAEC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$0</a:t>
            </a:r>
            <a:r>
              <a:rPr lang="en-US" sz="1300" dirty="0">
                <a:solidFill>
                  <a:srgbClr val="9AA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forever</a:t>
            </a:r>
            <a:endParaRPr lang="en-US" sz="3000" dirty="0"/>
          </a:p>
        </p:txBody>
      </p:sp>
      <p:sp>
        <p:nvSpPr>
          <p:cNvPr id="12" name="Text 9"/>
          <p:cNvSpPr/>
          <p:nvPr/>
        </p:nvSpPr>
        <p:spPr>
          <a:xfrm>
            <a:off x="914400" y="3127248"/>
            <a:ext cx="203225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9AA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 — curious &amp; active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914400" y="3493008"/>
            <a:ext cx="2032254" cy="0"/>
          </a:xfrm>
          <a:prstGeom prst="line">
            <a:avLst/>
          </a:prstGeom>
          <a:noFill/>
          <a:ln w="12700">
            <a:solidFill>
              <a:srgbClr val="242A3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914400" y="3639312"/>
            <a:ext cx="2077974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EAE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risk lens — cone, hedge, explainer</a:t>
            </a:r>
            <a:endParaRPr lang="en-US" sz="11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EAE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portfolio: Bybit + on-chain</a:t>
            </a:r>
            <a:endParaRPr lang="en-US" sz="11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EAE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Unlimited use, no caps</a:t>
            </a:r>
            <a:endParaRPr lang="en-US" sz="11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EAE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Investor archetypes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3422142" y="1828800"/>
            <a:ext cx="2580894" cy="3931920"/>
          </a:xfrm>
          <a:prstGeom prst="roundRect">
            <a:avLst>
              <a:gd name="adj" fmla="val 3189"/>
            </a:avLst>
          </a:prstGeom>
          <a:solidFill>
            <a:srgbClr val="151A24"/>
          </a:solidFill>
          <a:ln w="12700">
            <a:solidFill>
              <a:srgbClr val="242A36"/>
            </a:solidFill>
            <a:prstDash val="solid"/>
          </a:ln>
          <a:effectLst>
            <a:outerShdw blurRad="1143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3"/>
          <p:cNvSpPr/>
          <p:nvPr/>
        </p:nvSpPr>
        <p:spPr>
          <a:xfrm>
            <a:off x="3513582" y="1828800"/>
            <a:ext cx="2398014" cy="54864"/>
          </a:xfrm>
          <a:prstGeom prst="rect">
            <a:avLst/>
          </a:prstGeom>
          <a:solidFill>
            <a:srgbClr val="7E8AF5"/>
          </a:solidFill>
          <a:ln w="12700">
            <a:solidFill>
              <a:srgbClr val="7E8A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3696462" y="2121408"/>
            <a:ext cx="203225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7E8A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PLUS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3696462" y="2487168"/>
            <a:ext cx="203225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EAEC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$49</a:t>
            </a:r>
            <a:r>
              <a:rPr lang="en-US" sz="1300" dirty="0">
                <a:solidFill>
                  <a:srgbClr val="9AA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once</a:t>
            </a:r>
            <a:endParaRPr lang="en-US" sz="3000" dirty="0"/>
          </a:p>
        </p:txBody>
      </p:sp>
      <p:sp>
        <p:nvSpPr>
          <p:cNvPr id="19" name="Text 16"/>
          <p:cNvSpPr/>
          <p:nvPr/>
        </p:nvSpPr>
        <p:spPr>
          <a:xfrm>
            <a:off x="3696462" y="3127248"/>
            <a:ext cx="203225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9AA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retail traders</a:t>
            </a:r>
            <a:endParaRPr lang="en-US" sz="1150" dirty="0"/>
          </a:p>
        </p:txBody>
      </p:sp>
      <p:sp>
        <p:nvSpPr>
          <p:cNvPr id="20" name="Shape 17"/>
          <p:cNvSpPr/>
          <p:nvPr/>
        </p:nvSpPr>
        <p:spPr>
          <a:xfrm>
            <a:off x="3696462" y="3493008"/>
            <a:ext cx="2032254" cy="0"/>
          </a:xfrm>
          <a:prstGeom prst="line">
            <a:avLst/>
          </a:prstGeom>
          <a:noFill/>
          <a:ln w="12700">
            <a:solidFill>
              <a:srgbClr val="242A3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/>
          <p:nvPr/>
        </p:nvSpPr>
        <p:spPr>
          <a:xfrm>
            <a:off x="3696462" y="3639312"/>
            <a:ext cx="2077974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EAE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Monte Carlo: custom params + stress tests</a:t>
            </a:r>
            <a:endParaRPr lang="en-US" sz="11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EAE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Multi-portfolio + red-flag history</a:t>
            </a:r>
            <a:endParaRPr lang="en-US" sz="11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EAE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/ CSV exports</a:t>
            </a:r>
            <a:endParaRPr lang="en-US" sz="11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EAE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One-time — own it forever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6204204" y="1828800"/>
            <a:ext cx="2580894" cy="3931920"/>
          </a:xfrm>
          <a:prstGeom prst="roundRect">
            <a:avLst>
              <a:gd name="adj" fmla="val 3189"/>
            </a:avLst>
          </a:prstGeom>
          <a:solidFill>
            <a:srgbClr val="151A24"/>
          </a:solidFill>
          <a:ln w="12700">
            <a:solidFill>
              <a:srgbClr val="242A36"/>
            </a:solidFill>
            <a:prstDash val="solid"/>
          </a:ln>
          <a:effectLst>
            <a:outerShdw blurRad="1143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20"/>
          <p:cNvSpPr/>
          <p:nvPr/>
        </p:nvSpPr>
        <p:spPr>
          <a:xfrm>
            <a:off x="6295644" y="1828800"/>
            <a:ext cx="2398014" cy="54864"/>
          </a:xfrm>
          <a:prstGeom prst="rect">
            <a:avLst/>
          </a:prstGeom>
          <a:solidFill>
            <a:srgbClr val="9B86F0"/>
          </a:solidFill>
          <a:ln w="12700">
            <a:solidFill>
              <a:srgbClr val="9B86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1"/>
          <p:cNvSpPr/>
          <p:nvPr/>
        </p:nvSpPr>
        <p:spPr>
          <a:xfrm>
            <a:off x="6478524" y="2121408"/>
            <a:ext cx="203225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9B8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TEAM + API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6478524" y="2487168"/>
            <a:ext cx="203225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EAEC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Usage</a:t>
            </a:r>
            <a:endParaRPr lang="en-US" sz="3000" dirty="0"/>
          </a:p>
        </p:txBody>
      </p:sp>
      <p:sp>
        <p:nvSpPr>
          <p:cNvPr id="26" name="Text 23"/>
          <p:cNvSpPr/>
          <p:nvPr/>
        </p:nvSpPr>
        <p:spPr>
          <a:xfrm>
            <a:off x="6478524" y="3127248"/>
            <a:ext cx="203225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9AA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 desks · DAOs · devs</a:t>
            </a:r>
            <a:endParaRPr lang="en-US" sz="1150" dirty="0"/>
          </a:p>
        </p:txBody>
      </p:sp>
      <p:sp>
        <p:nvSpPr>
          <p:cNvPr id="27" name="Shape 24"/>
          <p:cNvSpPr/>
          <p:nvPr/>
        </p:nvSpPr>
        <p:spPr>
          <a:xfrm>
            <a:off x="6478524" y="3493008"/>
            <a:ext cx="2032254" cy="0"/>
          </a:xfrm>
          <a:prstGeom prst="line">
            <a:avLst/>
          </a:prstGeom>
          <a:noFill/>
          <a:ln w="12700">
            <a:solidFill>
              <a:srgbClr val="242A3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5"/>
          <p:cNvSpPr/>
          <p:nvPr/>
        </p:nvSpPr>
        <p:spPr>
          <a:xfrm>
            <a:off x="6478524" y="3639312"/>
            <a:ext cx="2077974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EAE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Risk-run API — priced per run</a:t>
            </a:r>
            <a:endParaRPr lang="en-US" sz="11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EAE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Multi-connection + custom archetypes</a:t>
            </a:r>
            <a:endParaRPr lang="en-US" sz="11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EAE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seats, no monthly fee</a:t>
            </a:r>
            <a:endParaRPr lang="en-US" sz="11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EAE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Scales with usage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8986266" y="1828800"/>
            <a:ext cx="2580894" cy="3931920"/>
          </a:xfrm>
          <a:prstGeom prst="roundRect">
            <a:avLst>
              <a:gd name="adj" fmla="val 3189"/>
            </a:avLst>
          </a:prstGeom>
          <a:solidFill>
            <a:srgbClr val="151A24"/>
          </a:solidFill>
          <a:ln w="12700">
            <a:solidFill>
              <a:srgbClr val="242A36"/>
            </a:solidFill>
            <a:prstDash val="solid"/>
          </a:ln>
          <a:effectLst>
            <a:outerShdw blurRad="1143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Shape 27"/>
          <p:cNvSpPr/>
          <p:nvPr/>
        </p:nvSpPr>
        <p:spPr>
          <a:xfrm>
            <a:off x="9077706" y="1828800"/>
            <a:ext cx="2398014" cy="54864"/>
          </a:xfrm>
          <a:prstGeom prst="rect">
            <a:avLst/>
          </a:prstGeom>
          <a:solidFill>
            <a:srgbClr val="9AA1B2"/>
          </a:solidFill>
          <a:ln w="12700">
            <a:solidFill>
              <a:srgbClr val="9AA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8"/>
          <p:cNvSpPr/>
          <p:nvPr/>
        </p:nvSpPr>
        <p:spPr>
          <a:xfrm>
            <a:off x="9260586" y="2121408"/>
            <a:ext cx="203225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9AA1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ENTERPRISE</a:t>
            </a:r>
            <a:endParaRPr lang="en-US" sz="1200" dirty="0"/>
          </a:p>
        </p:txBody>
      </p:sp>
      <p:sp>
        <p:nvSpPr>
          <p:cNvPr id="32" name="Text 29"/>
          <p:cNvSpPr/>
          <p:nvPr/>
        </p:nvSpPr>
        <p:spPr>
          <a:xfrm>
            <a:off x="9260586" y="2487168"/>
            <a:ext cx="203225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EAEC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</a:t>
            </a:r>
            <a:endParaRPr lang="en-US" sz="3000" dirty="0"/>
          </a:p>
        </p:txBody>
      </p:sp>
      <p:sp>
        <p:nvSpPr>
          <p:cNvPr id="33" name="Text 30"/>
          <p:cNvSpPr/>
          <p:nvPr/>
        </p:nvSpPr>
        <p:spPr>
          <a:xfrm>
            <a:off x="9260586" y="3127248"/>
            <a:ext cx="203225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9AA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Exchanges · funds · banks</a:t>
            </a:r>
            <a:endParaRPr lang="en-US" sz="1150" dirty="0"/>
          </a:p>
        </p:txBody>
      </p:sp>
      <p:sp>
        <p:nvSpPr>
          <p:cNvPr id="34" name="Shape 31"/>
          <p:cNvSpPr/>
          <p:nvPr/>
        </p:nvSpPr>
        <p:spPr>
          <a:xfrm>
            <a:off x="9260586" y="3493008"/>
            <a:ext cx="2032254" cy="0"/>
          </a:xfrm>
          <a:prstGeom prst="line">
            <a:avLst/>
          </a:prstGeom>
          <a:noFill/>
          <a:ln w="12700">
            <a:solidFill>
              <a:srgbClr val="242A3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2"/>
          <p:cNvSpPr/>
          <p:nvPr/>
        </p:nvSpPr>
        <p:spPr>
          <a:xfrm>
            <a:off x="9260586" y="3639312"/>
            <a:ext cx="2077974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EAE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 / license the engine</a:t>
            </a:r>
            <a:endParaRPr lang="en-US" sz="11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EAE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White-label + audit logs</a:t>
            </a:r>
            <a:endParaRPr lang="en-US" sz="11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EAE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MiCA / FCA compliance pack</a:t>
            </a:r>
            <a:endParaRPr lang="en-US" sz="11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EAE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 + dedicated support</a:t>
            </a:r>
            <a:endParaRPr lang="en-US" sz="1100" dirty="0"/>
          </a:p>
        </p:txBody>
      </p:sp>
      <p:sp>
        <p:nvSpPr>
          <p:cNvPr id="36" name="Shape 33"/>
          <p:cNvSpPr/>
          <p:nvPr/>
        </p:nvSpPr>
        <p:spPr>
          <a:xfrm>
            <a:off x="640080" y="5870448"/>
            <a:ext cx="10927080" cy="548640"/>
          </a:xfrm>
          <a:prstGeom prst="roundRect">
            <a:avLst>
              <a:gd name="adj" fmla="val 15000"/>
            </a:avLst>
          </a:prstGeom>
          <a:solidFill>
            <a:srgbClr val="11151D"/>
          </a:solidFill>
          <a:ln w="12700">
            <a:solidFill>
              <a:srgbClr val="242A36"/>
            </a:solidFill>
            <a:prstDash val="solid"/>
          </a:ln>
          <a:effectLst>
            <a:outerShdw blurRad="1143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7" name="Text 34"/>
          <p:cNvSpPr/>
          <p:nvPr/>
        </p:nvSpPr>
        <p:spPr>
          <a:xfrm>
            <a:off x="914400" y="5907024"/>
            <a:ext cx="10424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7E8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 free forever — no subscription.  </a:t>
            </a:r>
            <a:r>
              <a:rPr lang="en-US" sz="1150" dirty="0">
                <a:solidFill>
                  <a:srgbClr val="EAE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unlocks once; teams &amp; platforms pay by usage or licence. We never take a cut of your trades.   ·   Indicative pricing. </a:t>
            </a:r>
            <a:endParaRPr lang="en-US" sz="1150" dirty="0"/>
          </a:p>
        </p:txBody>
      </p:sp>
      <p:sp>
        <p:nvSpPr>
          <p:cNvPr id="38" name="Text 35"/>
          <p:cNvSpPr/>
          <p:nvPr/>
        </p:nvSpPr>
        <p:spPr>
          <a:xfrm>
            <a:off x="640080" y="643737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646C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VEYLIX</a:t>
            </a:r>
            <a:r>
              <a:rPr lang="en-US" sz="900" kern="0" spc="200" dirty="0">
                <a:solidFill>
                  <a:srgbClr val="646C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14 / 21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Revenue">
    <p:bg>
      <p:bgPr>
        <a:solidFill>
          <a:srgbClr val="0A0C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/>
          <p:nvPr/>
        </p:nvSpPr>
        <p:spPr>
          <a:xfrm>
            <a:off x="640080" y="525780"/>
            <a:ext cx="8000000" cy="274320"/>
          </a:xfrm>
          <a:prstGeom prst="rect">
            <a:avLst/>
          </a:prstGeom>
          <a:noFill/>
        </p:spPr>
        <p:txBody>
          <a:bodyPr lIns="0" tIns="0" rIns="0" bIns="0" anchor="ctr"/>
          <a:lstStyle/>
          <a:p>
            <a:pPr marL="0" indent="0">
              <a:buNone/>
            </a:pPr>
            <a:r>
              <a:rPr lang="en-US" sz="1200" b="1" spc="300" dirty="0">
                <a:solidFill>
                  <a:srgbClr val="7E8AF5"/>
                </a:solidFill>
                <a:latin typeface="Courier New"/>
                <a:cs typeface="Courier New"/>
              </a:rPr>
              <a:t>REVENUE MODEL &amp; THE ASK</a:t>
            </a:r>
          </a:p>
        </p:txBody>
      </p:sp>
      <p:sp>
        <p:nvSpPr>
          <p:cNvPr id="3" name="H1"/>
          <p:cNvSpPr/>
          <p:nvPr/>
        </p:nvSpPr>
        <p:spPr>
          <a:xfrm>
            <a:off x="640080" y="960120"/>
            <a:ext cx="10881360" cy="700000"/>
          </a:xfrm>
          <a:prstGeom prst="rect">
            <a:avLst/>
          </a:prstGeom>
          <a:noFill/>
        </p:spPr>
        <p:txBody>
          <a:bodyPr lIns="0" tIns="0" rIns="0" bIns="0" anchor="t"/>
          <a:lstStyle/>
          <a:p>
            <a:pPr marL="0" indent="0">
              <a:buNone/>
            </a:pPr>
            <a:r>
              <a:rPr lang="en-US" sz="3300" b="1" dirty="0">
                <a:solidFill>
                  <a:srgbClr val="EAECF2"/>
                </a:solidFill>
                <a:latin typeface="Arial"/>
                <a:cs typeface="Arial"/>
              </a:rPr>
              <a:t>Multiple revenue streams. </a:t>
            </a:r>
            <a:r>
              <a:rPr lang="en-US" sz="3300" b="1" dirty="0">
                <a:solidFill>
                  <a:srgbClr val="7E8AF5"/>
                </a:solidFill>
                <a:latin typeface="Arial"/>
                <a:cs typeface="Arial"/>
              </a:rPr>
              <a:t>One free wedge.</a:t>
            </a:r>
          </a:p>
        </p:txBody>
      </p:sp>
      <p:sp>
        <p:nvSpPr>
          <p:cNvPr id="4" name="ST1"/>
          <p:cNvSpPr/>
          <p:nvPr/>
        </p:nvSpPr>
        <p:spPr>
          <a:xfrm>
            <a:off x="640080" y="2194560"/>
            <a:ext cx="2520000" cy="900000"/>
          </a:xfrm>
          <a:prstGeom prst="rect">
            <a:avLst/>
          </a:prstGeom>
          <a:noFill/>
        </p:spPr>
        <p:txBody>
          <a:bodyPr lIns="0" tIns="0" rIns="0" bIns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3FB8A0"/>
                </a:solidFill>
                <a:latin typeface="Arial"/>
                <a:cs typeface="Arial"/>
              </a:rPr>
              <a:t>FREE</a:t>
            </a:r>
          </a:p>
          <a:p>
            <a:pPr marL="0" indent="0">
              <a:buNone/>
            </a:pPr>
            <a:r>
              <a:rPr lang="en-US" sz="1200" dirty="0">
                <a:solidFill>
                  <a:srgbClr val="9AA1B2"/>
                </a:solidFill>
                <a:latin typeface="Calibri"/>
                <a:cs typeface="Calibri"/>
              </a:rPr>
              <a:t>for retail, forever</a:t>
            </a:r>
          </a:p>
        </p:txBody>
      </p:sp>
      <p:sp>
        <p:nvSpPr>
          <p:cNvPr id="5" name="ST2"/>
          <p:cNvSpPr/>
          <p:nvPr/>
        </p:nvSpPr>
        <p:spPr>
          <a:xfrm>
            <a:off x="3340080" y="2194560"/>
            <a:ext cx="2520000" cy="900000"/>
          </a:xfrm>
          <a:prstGeom prst="rect">
            <a:avLst/>
          </a:prstGeom>
          <a:noFill/>
        </p:spPr>
        <p:txBody>
          <a:bodyPr lIns="0" tIns="0" rIns="0" bIns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7E8AF5"/>
                </a:solidFill>
                <a:latin typeface="Arial"/>
                <a:cs typeface="Arial"/>
              </a:rPr>
              <a:t>3</a:t>
            </a:r>
          </a:p>
          <a:p>
            <a:pPr marL="0" indent="0">
              <a:buNone/>
            </a:pPr>
            <a:r>
              <a:rPr lang="en-US" sz="1200" dirty="0">
                <a:solidFill>
                  <a:srgbClr val="9AA1B2"/>
                </a:solidFill>
                <a:latin typeface="Calibri"/>
                <a:cs typeface="Calibri"/>
              </a:rPr>
              <a:t>revenue streams</a:t>
            </a:r>
          </a:p>
        </p:txBody>
      </p:sp>
      <p:sp>
        <p:nvSpPr>
          <p:cNvPr id="6" name="ST3"/>
          <p:cNvSpPr/>
          <p:nvPr/>
        </p:nvSpPr>
        <p:spPr>
          <a:xfrm>
            <a:off x="6040080" y="2194560"/>
            <a:ext cx="2520000" cy="900000"/>
          </a:xfrm>
          <a:prstGeom prst="rect">
            <a:avLst/>
          </a:prstGeom>
          <a:noFill/>
        </p:spPr>
        <p:txBody>
          <a:bodyPr lIns="0" tIns="0" rIns="0" bIns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E6A23C"/>
                </a:solidFill>
                <a:latin typeface="Arial"/>
                <a:cs typeface="Arial"/>
              </a:rPr>
              <a:t>£50k+</a:t>
            </a:r>
          </a:p>
          <a:p>
            <a:pPr marL="0" indent="0">
              <a:buNone/>
            </a:pPr>
            <a:r>
              <a:rPr lang="en-US" sz="1200" dirty="0">
                <a:solidFill>
                  <a:srgbClr val="9AA1B2"/>
                </a:solidFill>
                <a:latin typeface="Calibri"/>
                <a:cs typeface="Calibri"/>
              </a:rPr>
              <a:t>per exchange licence</a:t>
            </a:r>
          </a:p>
        </p:txBody>
      </p:sp>
      <p:sp>
        <p:nvSpPr>
          <p:cNvPr id="7" name="ST4"/>
          <p:cNvSpPr/>
          <p:nvPr/>
        </p:nvSpPr>
        <p:spPr>
          <a:xfrm>
            <a:off x="8740080" y="2194560"/>
            <a:ext cx="2800000" cy="900000"/>
          </a:xfrm>
          <a:prstGeom prst="rect">
            <a:avLst/>
          </a:prstGeom>
          <a:noFill/>
        </p:spPr>
        <p:txBody>
          <a:bodyPr lIns="0" tIns="0" rIns="0" bIns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FF6F6F"/>
                </a:solidFill>
                <a:latin typeface="Arial"/>
                <a:cs typeface="Arial"/>
              </a:rPr>
              <a:t>0%</a:t>
            </a:r>
          </a:p>
          <a:p>
            <a:pPr marL="0" indent="0">
              <a:buNone/>
            </a:pPr>
            <a:r>
              <a:rPr lang="en-US" sz="1200" dirty="0">
                <a:solidFill>
                  <a:srgbClr val="9AA1B2"/>
                </a:solidFill>
                <a:latin typeface="Calibri"/>
                <a:cs typeface="Calibri"/>
              </a:rPr>
              <a:t>cut of your trades, ever</a:t>
            </a:r>
          </a:p>
        </p:txBody>
      </p:sp>
      <p:sp>
        <p:nvSpPr>
          <p:cNvPr id="8" name="Card1"/>
          <p:cNvSpPr/>
          <p:nvPr/>
        </p:nvSpPr>
        <p:spPr>
          <a:xfrm>
            <a:off x="640080" y="3337560"/>
            <a:ext cx="3471760" cy="2057400"/>
          </a:xfrm>
          <a:prstGeom prst="roundRect">
            <a:avLst>
              <a:gd name="adj" fmla="val 3500"/>
            </a:avLst>
          </a:prstGeom>
          <a:solidFill>
            <a:srgbClr val="151A24"/>
          </a:solidFill>
          <a:ln w="12700">
            <a:solidFill>
              <a:srgbClr val="242A36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9" name="Card2"/>
          <p:cNvSpPr/>
          <p:nvPr/>
        </p:nvSpPr>
        <p:spPr>
          <a:xfrm>
            <a:off x="4360080" y="3337560"/>
            <a:ext cx="3471760" cy="2057400"/>
          </a:xfrm>
          <a:prstGeom prst="roundRect">
            <a:avLst>
              <a:gd name="adj" fmla="val 3500"/>
            </a:avLst>
          </a:prstGeom>
          <a:solidFill>
            <a:srgbClr val="151A24"/>
          </a:solidFill>
          <a:ln w="12700">
            <a:solidFill>
              <a:srgbClr val="242A36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0" name="Card3"/>
          <p:cNvSpPr/>
          <p:nvPr/>
        </p:nvSpPr>
        <p:spPr>
          <a:xfrm>
            <a:off x="8080080" y="3337560"/>
            <a:ext cx="3471760" cy="2057400"/>
          </a:xfrm>
          <a:prstGeom prst="roundRect">
            <a:avLst>
              <a:gd name="adj" fmla="val 3500"/>
            </a:avLst>
          </a:prstGeom>
          <a:solidFill>
            <a:srgbClr val="151A24"/>
          </a:solidFill>
          <a:ln w="12700">
            <a:solidFill>
              <a:srgbClr val="242A36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1" name="C1"/>
          <p:cNvSpPr/>
          <p:nvPr/>
        </p:nvSpPr>
        <p:spPr>
          <a:xfrm>
            <a:off x="868680" y="3520440"/>
            <a:ext cx="3014560" cy="1737360"/>
          </a:xfrm>
          <a:prstGeom prst="rect">
            <a:avLst/>
          </a:prstGeom>
          <a:noFill/>
        </p:spPr>
        <p:txBody>
          <a:bodyPr lIns="0" tIns="0" rIns="0" bIns="0" anchor="t"/>
          <a:lstStyle/>
          <a:p>
            <a:pPr marL="0" indent="0">
              <a:spcAft>
                <a:spcPts val="500"/>
              </a:spcAft>
              <a:buNone/>
            </a:pPr>
            <a:r>
              <a:rPr lang="en-US" sz="1600" b="1" dirty="0">
                <a:solidFill>
                  <a:srgbClr val="EAECF2"/>
                </a:solidFill>
                <a:latin typeface="Arial"/>
                <a:cs typeface="Arial"/>
              </a:rPr>
              <a:t>Retail SaaS</a:t>
            </a:r>
          </a:p>
          <a:p>
            <a:pPr marL="0" indent="0">
              <a:spcAft>
                <a:spcPts val="700"/>
              </a:spcAft>
              <a:buNone/>
            </a:pPr>
            <a:r>
              <a:rPr lang="en-US" sz="1300" b="1" dirty="0">
                <a:solidFill>
                  <a:srgbClr val="3FB8A0"/>
                </a:solidFill>
                <a:latin typeface="Courier New"/>
                <a:cs typeface="Courier New"/>
              </a:rPr>
              <a:t>Free → £49 once</a:t>
            </a:r>
          </a:p>
          <a:p>
            <a:pPr marL="171450" indent="-171450">
              <a:spcAft>
                <a:spcPts val="500"/>
              </a:spcAft>
              <a:buChar char="•"/>
            </a:pPr>
            <a:r>
              <a:rPr lang="en-US" sz="1300" dirty="0">
                <a:solidFill>
                  <a:srgbClr val="9AA1B2"/>
                </a:solidFill>
                <a:latin typeface="Calibri"/>
                <a:cs typeface="Calibri"/>
              </a:rPr>
              <a:t>Full risk lens, free forever</a:t>
            </a:r>
          </a:p>
          <a:p>
            <a:pPr marL="171450" indent="-171450">
              <a:buChar char="•"/>
            </a:pPr>
            <a:r>
              <a:rPr lang="en-US" sz="1300" dirty="0">
                <a:solidFill>
                  <a:srgbClr val="9AA1B2"/>
                </a:solidFill>
                <a:latin typeface="Calibri"/>
                <a:cs typeface="Calibri"/>
              </a:rPr>
              <a:t>Owns the default; builds the data</a:t>
            </a:r>
          </a:p>
        </p:txBody>
      </p:sp>
      <p:sp>
        <p:nvSpPr>
          <p:cNvPr id="12" name="C2"/>
          <p:cNvSpPr/>
          <p:nvPr/>
        </p:nvSpPr>
        <p:spPr>
          <a:xfrm>
            <a:off x="4588680" y="3520440"/>
            <a:ext cx="3014560" cy="1737360"/>
          </a:xfrm>
          <a:prstGeom prst="rect">
            <a:avLst/>
          </a:prstGeom>
          <a:noFill/>
        </p:spPr>
        <p:txBody>
          <a:bodyPr lIns="0" tIns="0" rIns="0" bIns="0" anchor="t"/>
          <a:lstStyle/>
          <a:p>
            <a:pPr marL="0" indent="0">
              <a:spcAft>
                <a:spcPts val="500"/>
              </a:spcAft>
              <a:buNone/>
            </a:pPr>
            <a:r>
              <a:rPr lang="en-US" sz="1600" b="1" dirty="0">
                <a:solidFill>
                  <a:srgbClr val="EAECF2"/>
                </a:solidFill>
                <a:latin typeface="Arial"/>
                <a:cs typeface="Arial"/>
              </a:rPr>
              <a:t>Exchange white-label</a:t>
            </a:r>
          </a:p>
          <a:p>
            <a:pPr marL="0" indent="0">
              <a:spcAft>
                <a:spcPts val="700"/>
              </a:spcAft>
              <a:buNone/>
            </a:pPr>
            <a:r>
              <a:rPr lang="en-US" sz="1300" b="1" dirty="0">
                <a:solidFill>
                  <a:srgbClr val="E6A23C"/>
                </a:solidFill>
                <a:latin typeface="Courier New"/>
                <a:cs typeface="Courier New"/>
              </a:rPr>
              <a:t>£50k+ licence + usage</a:t>
            </a:r>
          </a:p>
          <a:p>
            <a:pPr marL="171450" indent="-171450">
              <a:spcAft>
                <a:spcPts val="500"/>
              </a:spcAft>
              <a:buChar char="•"/>
            </a:pPr>
            <a:r>
              <a:rPr lang="en-US" sz="1300" dirty="0">
                <a:solidFill>
                  <a:srgbClr val="9AA1B2"/>
                </a:solidFill>
                <a:latin typeface="Calibri"/>
                <a:cs typeface="Calibri"/>
              </a:rPr>
              <a:t>Embed the engine; protect users</a:t>
            </a:r>
          </a:p>
          <a:p>
            <a:pPr marL="171450" indent="-171450">
              <a:buChar char="•"/>
            </a:pPr>
            <a:r>
              <a:rPr lang="en-US" sz="1300" dirty="0">
                <a:solidFill>
                  <a:srgbClr val="9AA1B2"/>
                </a:solidFill>
                <a:latin typeface="Calibri"/>
                <a:cs typeface="Calibri"/>
              </a:rPr>
              <a:t>API + licence fees, MiCA-ready</a:t>
            </a:r>
          </a:p>
        </p:txBody>
      </p:sp>
      <p:sp>
        <p:nvSpPr>
          <p:cNvPr id="13" name="C3"/>
          <p:cNvSpPr/>
          <p:nvPr/>
        </p:nvSpPr>
        <p:spPr>
          <a:xfrm>
            <a:off x="8308680" y="3520440"/>
            <a:ext cx="3014560" cy="1737360"/>
          </a:xfrm>
          <a:prstGeom prst="rect">
            <a:avLst/>
          </a:prstGeom>
          <a:noFill/>
        </p:spPr>
        <p:txBody>
          <a:bodyPr lIns="0" tIns="0" rIns="0" bIns="0" anchor="t"/>
          <a:lstStyle/>
          <a:p>
            <a:pPr marL="0" indent="0">
              <a:spcAft>
                <a:spcPts val="500"/>
              </a:spcAft>
              <a:buNone/>
            </a:pPr>
            <a:r>
              <a:rPr lang="en-US" sz="1600" b="1" dirty="0">
                <a:solidFill>
                  <a:srgbClr val="EAECF2"/>
                </a:solidFill>
                <a:latin typeface="Arial"/>
                <a:cs typeface="Arial"/>
              </a:rPr>
              <a:t>Developer API</a:t>
            </a:r>
          </a:p>
          <a:p>
            <a:pPr marL="0" indent="0">
              <a:spcAft>
                <a:spcPts val="700"/>
              </a:spcAft>
              <a:buNone/>
            </a:pPr>
            <a:r>
              <a:rPr lang="en-US" sz="1300" b="1" dirty="0">
                <a:solidFill>
                  <a:srgbClr val="FF6F6F"/>
                </a:solidFill>
                <a:latin typeface="Courier New"/>
                <a:cs typeface="Courier New"/>
              </a:rPr>
              <a:t>Usage-based</a:t>
            </a:r>
          </a:p>
          <a:p>
            <a:pPr marL="171450" indent="-171450">
              <a:spcAft>
                <a:spcPts val="500"/>
              </a:spcAft>
              <a:buChar char="•"/>
            </a:pPr>
            <a:r>
              <a:rPr lang="en-US" sz="1300" dirty="0">
                <a:solidFill>
                  <a:srgbClr val="9AA1B2"/>
                </a:solidFill>
                <a:latin typeface="Calibri"/>
                <a:cs typeface="Calibri"/>
              </a:rPr>
              <a:t>Per-run pricing, no seats</a:t>
            </a:r>
          </a:p>
          <a:p>
            <a:pPr marL="171450" indent="-171450">
              <a:buChar char="•"/>
            </a:pPr>
            <a:r>
              <a:rPr lang="en-US" sz="1300" dirty="0">
                <a:solidFill>
                  <a:srgbClr val="9AA1B2"/>
                </a:solidFill>
                <a:latin typeface="Calibri"/>
                <a:cs typeface="Calibri"/>
              </a:rPr>
              <a:t>Risk-as-a-service; scales with use</a:t>
            </a:r>
          </a:p>
        </p:txBody>
      </p:sp>
      <p:sp>
        <p:nvSpPr>
          <p:cNvPr id="14" name="Ask"/>
          <p:cNvSpPr/>
          <p:nvPr/>
        </p:nvSpPr>
        <p:spPr>
          <a:xfrm>
            <a:off x="640080" y="5669280"/>
            <a:ext cx="10881360" cy="640080"/>
          </a:xfrm>
          <a:prstGeom prst="rect">
            <a:avLst/>
          </a:prstGeom>
          <a:noFill/>
        </p:spPr>
        <p:txBody>
          <a:bodyPr lIns="0" tIns="0" rIns="0" bIns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7E8AF5"/>
                </a:solidFill>
                <a:latin typeface="Calibri"/>
                <a:cs typeface="Calibri"/>
              </a:rPr>
              <a:t>The motion: </a:t>
            </a:r>
            <a:r>
              <a:rPr lang="en-US" sz="1500" dirty="0">
                <a:solidFill>
                  <a:srgbClr val="EAECF2"/>
                </a:solidFill>
                <a:latin typeface="Calibri"/>
                <a:cs typeface="Calibri"/>
              </a:rPr>
              <a:t>free retail wins distribution at zero switching cost → usage proves the value → platforms license the layer they can’t build. Acquisition is free; revenue is B2B. The raise: pre-seed to ship on-chain proofs + multi-exchange + the B2B layer.</a:t>
            </a:r>
          </a:p>
        </p:txBody>
      </p:sp>
      <p:sp>
        <p:nvSpPr>
          <p:cNvPr id="15" name="Footer"/>
          <p:cNvSpPr/>
          <p:nvPr/>
        </p:nvSpPr>
        <p:spPr>
          <a:xfrm>
            <a:off x="640080" y="6437376"/>
            <a:ext cx="5486400" cy="274320"/>
          </a:xfrm>
          <a:prstGeom prst="rect">
            <a:avLst/>
          </a:prstGeom>
          <a:noFill/>
        </p:spPr>
        <p:txBody>
          <a:bodyPr lIns="0" tIns="0" rIns="0" bIns="0" anchor="ctr"/>
          <a:lstStyle/>
          <a:p>
            <a:pPr marL="0" indent="0">
              <a:buNone/>
            </a:pPr>
            <a:r>
              <a:rPr lang="en-US" sz="900" b="1" spc="200" dirty="0">
                <a:solidFill>
                  <a:srgbClr val="646C7C"/>
                </a:solidFill>
                <a:latin typeface="Courier New"/>
                <a:cs typeface="Courier New"/>
              </a:rPr>
              <a:t>VEYLIX</a:t>
            </a:r>
            <a:r>
              <a:rPr lang="en-US" sz="900" spc="200" dirty="0">
                <a:solidFill>
                  <a:srgbClr val="646C7C"/>
                </a:solidFill>
                <a:latin typeface="Courier New"/>
                <a:cs typeface="Courier New"/>
              </a:rPr>
              <a:t>   15 / 21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A0C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566928" cy="566928"/>
          </a:xfrm>
          <a:prstGeom prst="ellipse">
            <a:avLst/>
          </a:prstGeom>
          <a:solidFill>
            <a:srgbClr val="151A24"/>
          </a:solidFill>
          <a:ln w="12700">
            <a:solidFill>
              <a:srgbClr val="242A3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0158" y="627278"/>
            <a:ext cx="226771" cy="22677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56692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7E8A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WHY NOW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640080" y="96012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300" b="1" dirty="0">
                <a:solidFill>
                  <a:srgbClr val="EAEC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window is open now — and closing fast.</a:t>
            </a:r>
            <a:endParaRPr lang="en-US" sz="3300" dirty="0"/>
          </a:p>
        </p:txBody>
      </p:sp>
      <p:sp>
        <p:nvSpPr>
          <p:cNvPr id="6" name="Shape 3"/>
          <p:cNvSpPr/>
          <p:nvPr/>
        </p:nvSpPr>
        <p:spPr>
          <a:xfrm>
            <a:off x="640080" y="2240280"/>
            <a:ext cx="5349240" cy="1737360"/>
          </a:xfrm>
          <a:prstGeom prst="roundRect">
            <a:avLst>
              <a:gd name="adj" fmla="val 4737"/>
            </a:avLst>
          </a:prstGeom>
          <a:solidFill>
            <a:srgbClr val="151A24"/>
          </a:solidFill>
          <a:ln w="12700">
            <a:solidFill>
              <a:srgbClr val="242A36"/>
            </a:solidFill>
            <a:prstDash val="solid"/>
          </a:ln>
          <a:effectLst>
            <a:outerShdw blurRad="1143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914400" y="2514600"/>
            <a:ext cx="512064" cy="512064"/>
          </a:xfrm>
          <a:prstGeom prst="ellipse">
            <a:avLst/>
          </a:prstGeom>
          <a:solidFill>
            <a:srgbClr val="151A24"/>
          </a:solidFill>
          <a:ln w="12700">
            <a:solidFill>
              <a:srgbClr val="242A3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8019" y="2668219"/>
            <a:ext cx="204826" cy="20482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572768" y="2514600"/>
            <a:ext cx="41788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AEC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Regulation is forcing it — now</a:t>
            </a:r>
            <a:endParaRPr lang="en-US" sz="1600" dirty="0"/>
          </a:p>
        </p:txBody>
      </p:sp>
      <p:sp>
        <p:nvSpPr>
          <p:cNvPr id="10" name="Text 6"/>
          <p:cNvSpPr/>
          <p:nvPr/>
        </p:nvSpPr>
        <p:spPr>
          <a:xfrm>
            <a:off x="1572768" y="2916936"/>
            <a:ext cx="417880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AA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MiCA is in force across the EU today; the UK's FCA crypto regime lands in 2026. Both demand transparency and responsible-trading tools right now — post-FTX, honest risk tooling is no longer optional.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6217920" y="2240280"/>
            <a:ext cx="5349240" cy="1737360"/>
          </a:xfrm>
          <a:prstGeom prst="roundRect">
            <a:avLst>
              <a:gd name="adj" fmla="val 4737"/>
            </a:avLst>
          </a:prstGeom>
          <a:solidFill>
            <a:srgbClr val="151A24"/>
          </a:solidFill>
          <a:ln w="12700">
            <a:solidFill>
              <a:srgbClr val="242A36"/>
            </a:solidFill>
            <a:prstDash val="solid"/>
          </a:ln>
          <a:effectLst>
            <a:outerShdw blurRad="1143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8"/>
          <p:cNvSpPr/>
          <p:nvPr/>
        </p:nvSpPr>
        <p:spPr>
          <a:xfrm>
            <a:off x="6492240" y="2514600"/>
            <a:ext cx="512064" cy="512064"/>
          </a:xfrm>
          <a:prstGeom prst="ellipse">
            <a:avLst/>
          </a:prstGeom>
          <a:solidFill>
            <a:srgbClr val="151A24"/>
          </a:solidFill>
          <a:ln w="12700">
            <a:solidFill>
              <a:srgbClr val="242A3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45859" y="2668219"/>
            <a:ext cx="204826" cy="204826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7150608" y="2514600"/>
            <a:ext cx="41788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AEC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Demand is peaking right now</a:t>
            </a:r>
            <a:endParaRPr lang="en-US" sz="1600" dirty="0"/>
          </a:p>
        </p:txBody>
      </p:sp>
      <p:sp>
        <p:nvSpPr>
          <p:cNvPr id="15" name="Text 10"/>
          <p:cNvSpPr/>
          <p:nvPr/>
        </p:nvSpPr>
        <p:spPr>
          <a:xfrm>
            <a:off x="7150608" y="2916936"/>
            <a:ext cx="417880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AA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 derivatives participation stays massive, and ~80% lose money. Appetite for non-extractive, honest risk tooling is at a high.</a:t>
            </a:r>
            <a:endParaRPr lang="en-US" sz="1200" dirty="0"/>
          </a:p>
        </p:txBody>
      </p:sp>
      <p:sp>
        <p:nvSpPr>
          <p:cNvPr id="16" name="Shape 11"/>
          <p:cNvSpPr/>
          <p:nvPr/>
        </p:nvSpPr>
        <p:spPr>
          <a:xfrm>
            <a:off x="640080" y="4233672"/>
            <a:ext cx="5349240" cy="1737360"/>
          </a:xfrm>
          <a:prstGeom prst="roundRect">
            <a:avLst>
              <a:gd name="adj" fmla="val 4737"/>
            </a:avLst>
          </a:prstGeom>
          <a:solidFill>
            <a:srgbClr val="151A24"/>
          </a:solidFill>
          <a:ln w="12700">
            <a:solidFill>
              <a:srgbClr val="242A36"/>
            </a:solidFill>
            <a:prstDash val="solid"/>
          </a:ln>
          <a:effectLst>
            <a:outerShdw blurRad="1143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2"/>
          <p:cNvSpPr/>
          <p:nvPr/>
        </p:nvSpPr>
        <p:spPr>
          <a:xfrm>
            <a:off x="914400" y="4507992"/>
            <a:ext cx="512064" cy="512064"/>
          </a:xfrm>
          <a:prstGeom prst="ellipse">
            <a:avLst/>
          </a:prstGeom>
          <a:solidFill>
            <a:srgbClr val="151A24"/>
          </a:solidFill>
          <a:ln w="12700">
            <a:solidFill>
              <a:srgbClr val="242A3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8019" y="4661611"/>
            <a:ext cx="204826" cy="204826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572768" y="4507992"/>
            <a:ext cx="41788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AEC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tech just became free</a:t>
            </a:r>
            <a:endParaRPr lang="en-US" sz="1600" dirty="0"/>
          </a:p>
        </p:txBody>
      </p:sp>
      <p:sp>
        <p:nvSpPr>
          <p:cNvPr id="20" name="Text 14"/>
          <p:cNvSpPr/>
          <p:nvPr/>
        </p:nvSpPr>
        <p:spPr>
          <a:xfrm>
            <a:off x="1572768" y="4910328"/>
            <a:ext cx="417880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AA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Client-side Monte Carlo now runs 3,000 paths live in the browser — sophisticated risk visualisation, zero backend.</a:t>
            </a:r>
            <a:endParaRPr lang="en-US" sz="1200" dirty="0"/>
          </a:p>
        </p:txBody>
      </p:sp>
      <p:sp>
        <p:nvSpPr>
          <p:cNvPr id="21" name="Shape 15"/>
          <p:cNvSpPr/>
          <p:nvPr/>
        </p:nvSpPr>
        <p:spPr>
          <a:xfrm>
            <a:off x="6217920" y="4233672"/>
            <a:ext cx="5349240" cy="1737360"/>
          </a:xfrm>
          <a:prstGeom prst="roundRect">
            <a:avLst>
              <a:gd name="adj" fmla="val 4737"/>
            </a:avLst>
          </a:prstGeom>
          <a:solidFill>
            <a:srgbClr val="151A24"/>
          </a:solidFill>
          <a:ln w="12700">
            <a:solidFill>
              <a:srgbClr val="242A36"/>
            </a:solidFill>
            <a:prstDash val="solid"/>
          </a:ln>
          <a:effectLst>
            <a:outerShdw blurRad="1143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16"/>
          <p:cNvSpPr/>
          <p:nvPr/>
        </p:nvSpPr>
        <p:spPr>
          <a:xfrm>
            <a:off x="6492240" y="4507992"/>
            <a:ext cx="512064" cy="512064"/>
          </a:xfrm>
          <a:prstGeom prst="ellipse">
            <a:avLst/>
          </a:prstGeom>
          <a:solidFill>
            <a:srgbClr val="151A24"/>
          </a:solidFill>
          <a:ln w="12700">
            <a:solidFill>
              <a:srgbClr val="242A3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3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45859" y="4661611"/>
            <a:ext cx="204826" cy="204826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7150608" y="4507992"/>
            <a:ext cx="41788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AEC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gap is open — for now</a:t>
            </a:r>
            <a:endParaRPr lang="en-US" sz="1600" dirty="0"/>
          </a:p>
        </p:txBody>
      </p:sp>
      <p:sp>
        <p:nvSpPr>
          <p:cNvPr id="25" name="Text 18"/>
          <p:cNvSpPr/>
          <p:nvPr/>
        </p:nvSpPr>
        <p:spPr>
          <a:xfrm>
            <a:off x="7150608" y="4910328"/>
            <a:ext cx="417880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AA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tool combines live portfolio + probabilistic cone + interactive hedge + non-advice. The white space is real, unclaimed — and the first mover sets the standard.</a:t>
            </a:r>
            <a:endParaRPr lang="en-US" sz="1200" dirty="0"/>
          </a:p>
        </p:txBody>
      </p:sp>
      <p:sp>
        <p:nvSpPr>
          <p:cNvPr id="26" name="Text 19"/>
          <p:cNvSpPr/>
          <p:nvPr/>
        </p:nvSpPr>
        <p:spPr>
          <a:xfrm>
            <a:off x="640080" y="643737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646C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VEYLIX</a:t>
            </a:r>
            <a:r>
              <a:rPr lang="en-US" sz="900" kern="0" spc="200" dirty="0">
                <a:solidFill>
                  <a:srgbClr val="646C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16 / 21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A0C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566928" cy="566928"/>
          </a:xfrm>
          <a:prstGeom prst="ellipse">
            <a:avLst/>
          </a:prstGeom>
          <a:solidFill>
            <a:srgbClr val="151A24"/>
          </a:solidFill>
          <a:ln w="12700">
            <a:solidFill>
              <a:srgbClr val="242A3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0158" y="627278"/>
            <a:ext cx="226771" cy="22677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56692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7E8A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ROADMAP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640080" y="96012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300" b="1" dirty="0">
                <a:solidFill>
                  <a:srgbClr val="EAEC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risk lens to risk layer.</a:t>
            </a:r>
            <a:endParaRPr lang="en-US" sz="3300" dirty="0"/>
          </a:p>
        </p:txBody>
      </p:sp>
      <p:sp>
        <p:nvSpPr>
          <p:cNvPr id="6" name="Shape 3"/>
          <p:cNvSpPr/>
          <p:nvPr/>
        </p:nvSpPr>
        <p:spPr>
          <a:xfrm>
            <a:off x="6089904" y="2423160"/>
            <a:ext cx="0" cy="3328416"/>
          </a:xfrm>
          <a:prstGeom prst="line">
            <a:avLst/>
          </a:prstGeom>
          <a:noFill/>
          <a:ln w="25400">
            <a:solidFill>
              <a:srgbClr val="26303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640080" y="1801368"/>
            <a:ext cx="4956048" cy="1335024"/>
          </a:xfrm>
          <a:prstGeom prst="roundRect">
            <a:avLst>
              <a:gd name="adj" fmla="val 6164"/>
            </a:avLst>
          </a:prstGeom>
          <a:solidFill>
            <a:srgbClr val="151A24"/>
          </a:solidFill>
          <a:ln w="12700">
            <a:solidFill>
              <a:srgbClr val="242A36"/>
            </a:solidFill>
            <a:prstDash val="solid"/>
          </a:ln>
          <a:effectLst>
            <a:outerShdw blurRad="1143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731520" y="1801368"/>
            <a:ext cx="4773168" cy="45720"/>
          </a:xfrm>
          <a:prstGeom prst="rect">
            <a:avLst/>
          </a:prstGeom>
          <a:solidFill>
            <a:srgbClr val="52C7E8"/>
          </a:solidFill>
          <a:ln w="12700">
            <a:solidFill>
              <a:srgbClr val="52C7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896112" y="1947672"/>
            <a:ext cx="3584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100" dirty="0">
                <a:solidFill>
                  <a:srgbClr val="52C7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NOW · LIVE MVP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4361688" y="1947672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646C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shipped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896112" y="2276856"/>
            <a:ext cx="449884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EAE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Bybit portfolio + the outcome cone</a:t>
            </a:r>
            <a:endParaRPr lang="en-US" sz="10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EAE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BTC / MSTR hedge priced by real funding rates</a:t>
            </a:r>
            <a:endParaRPr lang="en-US" sz="10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EAE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Explainable Monte Carlo · non-advice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5596128" y="2468880"/>
            <a:ext cx="283464" cy="0"/>
          </a:xfrm>
          <a:prstGeom prst="line">
            <a:avLst/>
          </a:prstGeom>
          <a:noFill/>
          <a:ln w="19050">
            <a:solidFill>
              <a:srgbClr val="52C7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5879592" y="2258568"/>
            <a:ext cx="420624" cy="420624"/>
          </a:xfrm>
          <a:prstGeom prst="ellipse">
            <a:avLst/>
          </a:prstGeom>
          <a:solidFill>
            <a:srgbClr val="52C7E8"/>
          </a:solidFill>
          <a:ln w="31750">
            <a:solidFill>
              <a:srgbClr val="0A0C1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5879592" y="225856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A0C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6611112" y="2880360"/>
            <a:ext cx="4956048" cy="1335024"/>
          </a:xfrm>
          <a:prstGeom prst="roundRect">
            <a:avLst>
              <a:gd name="adj" fmla="val 6164"/>
            </a:avLst>
          </a:prstGeom>
          <a:solidFill>
            <a:srgbClr val="11151D"/>
          </a:solidFill>
          <a:ln w="12700">
            <a:solidFill>
              <a:srgbClr val="242A36"/>
            </a:solidFill>
            <a:prstDash val="solid"/>
          </a:ln>
          <a:effectLst>
            <a:outerShdw blurRad="1143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3"/>
          <p:cNvSpPr/>
          <p:nvPr/>
        </p:nvSpPr>
        <p:spPr>
          <a:xfrm>
            <a:off x="6702552" y="2880360"/>
            <a:ext cx="4773168" cy="45720"/>
          </a:xfrm>
          <a:prstGeom prst="rect">
            <a:avLst/>
          </a:prstGeom>
          <a:solidFill>
            <a:srgbClr val="7E8AF5"/>
          </a:solidFill>
          <a:ln w="12700">
            <a:solidFill>
              <a:srgbClr val="7E8A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6867144" y="3026664"/>
            <a:ext cx="3584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100" dirty="0">
                <a:solidFill>
                  <a:srgbClr val="7E8A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NEXT · ON-CHAIN</a:t>
            </a:r>
            <a:endParaRPr lang="en-US" sz="1150" dirty="0"/>
          </a:p>
        </p:txBody>
      </p:sp>
      <p:sp>
        <p:nvSpPr>
          <p:cNvPr id="18" name="Text 15"/>
          <p:cNvSpPr/>
          <p:nvPr/>
        </p:nvSpPr>
        <p:spPr>
          <a:xfrm>
            <a:off x="10332720" y="3026664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646C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Q3 2026</a:t>
            </a:r>
            <a:endParaRPr lang="en-US" sz="1050" dirty="0"/>
          </a:p>
        </p:txBody>
      </p:sp>
      <p:sp>
        <p:nvSpPr>
          <p:cNvPr id="19" name="Text 16"/>
          <p:cNvSpPr/>
          <p:nvPr/>
        </p:nvSpPr>
        <p:spPr>
          <a:xfrm>
            <a:off x="6867144" y="3355848"/>
            <a:ext cx="449884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EAE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WalletConnect — on-chain wallets</a:t>
            </a:r>
            <a:endParaRPr lang="en-US" sz="10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EAE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flags: liquidity, concentration, rug</a:t>
            </a:r>
            <a:endParaRPr lang="en-US" sz="10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EAE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Risk-alerts / monitoring agent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6300216" y="3547872"/>
            <a:ext cx="310896" cy="0"/>
          </a:xfrm>
          <a:prstGeom prst="line">
            <a:avLst/>
          </a:prstGeom>
          <a:noFill/>
          <a:ln w="19050">
            <a:solidFill>
              <a:srgbClr val="7E8A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8"/>
          <p:cNvSpPr/>
          <p:nvPr/>
        </p:nvSpPr>
        <p:spPr>
          <a:xfrm>
            <a:off x="5879592" y="3337560"/>
            <a:ext cx="420624" cy="420624"/>
          </a:xfrm>
          <a:prstGeom prst="ellipse">
            <a:avLst/>
          </a:prstGeom>
          <a:solidFill>
            <a:srgbClr val="7E8AF5"/>
          </a:solidFill>
          <a:ln w="31750">
            <a:solidFill>
              <a:srgbClr val="0A0C1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19"/>
          <p:cNvSpPr/>
          <p:nvPr/>
        </p:nvSpPr>
        <p:spPr>
          <a:xfrm>
            <a:off x="5879592" y="333756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A0C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23" name="Shape 20"/>
          <p:cNvSpPr/>
          <p:nvPr/>
        </p:nvSpPr>
        <p:spPr>
          <a:xfrm>
            <a:off x="640080" y="3959352"/>
            <a:ext cx="4956048" cy="1335024"/>
          </a:xfrm>
          <a:prstGeom prst="roundRect">
            <a:avLst>
              <a:gd name="adj" fmla="val 6164"/>
            </a:avLst>
          </a:prstGeom>
          <a:solidFill>
            <a:srgbClr val="151A24"/>
          </a:solidFill>
          <a:ln w="12700">
            <a:solidFill>
              <a:srgbClr val="242A36"/>
            </a:solidFill>
            <a:prstDash val="solid"/>
          </a:ln>
          <a:effectLst>
            <a:outerShdw blurRad="1143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Shape 21"/>
          <p:cNvSpPr/>
          <p:nvPr/>
        </p:nvSpPr>
        <p:spPr>
          <a:xfrm>
            <a:off x="731520" y="3959352"/>
            <a:ext cx="4773168" cy="45720"/>
          </a:xfrm>
          <a:prstGeom prst="rect">
            <a:avLst/>
          </a:prstGeom>
          <a:solidFill>
            <a:srgbClr val="9B86F0"/>
          </a:solidFill>
          <a:ln w="12700">
            <a:solidFill>
              <a:srgbClr val="9B86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2"/>
          <p:cNvSpPr/>
          <p:nvPr/>
        </p:nvSpPr>
        <p:spPr>
          <a:xfrm>
            <a:off x="896112" y="4105656"/>
            <a:ext cx="3584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100" dirty="0">
                <a:solidFill>
                  <a:srgbClr val="9B8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THEN · PLATFORMS</a:t>
            </a:r>
            <a:endParaRPr lang="en-US" sz="1150" dirty="0"/>
          </a:p>
        </p:txBody>
      </p:sp>
      <p:sp>
        <p:nvSpPr>
          <p:cNvPr id="26" name="Text 23"/>
          <p:cNvSpPr/>
          <p:nvPr/>
        </p:nvSpPr>
        <p:spPr>
          <a:xfrm>
            <a:off x="4361688" y="4105656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646C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Q4 2026</a:t>
            </a:r>
            <a:endParaRPr lang="en-US" sz="1050" dirty="0"/>
          </a:p>
        </p:txBody>
      </p:sp>
      <p:sp>
        <p:nvSpPr>
          <p:cNvPr id="27" name="Text 24"/>
          <p:cNvSpPr/>
          <p:nvPr/>
        </p:nvSpPr>
        <p:spPr>
          <a:xfrm>
            <a:off x="896112" y="4434840"/>
            <a:ext cx="449884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EAE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Multi-exchange coverage</a:t>
            </a:r>
            <a:endParaRPr lang="en-US" sz="10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EAE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B2B embed / license + usage API</a:t>
            </a:r>
            <a:endParaRPr lang="en-US" sz="10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EAE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White-label risk layer for platforms</a:t>
            </a:r>
            <a:endParaRPr lang="en-US" sz="1050" dirty="0"/>
          </a:p>
        </p:txBody>
      </p:sp>
      <p:sp>
        <p:nvSpPr>
          <p:cNvPr id="28" name="Shape 25"/>
          <p:cNvSpPr/>
          <p:nvPr/>
        </p:nvSpPr>
        <p:spPr>
          <a:xfrm>
            <a:off x="5596128" y="4626864"/>
            <a:ext cx="283464" cy="0"/>
          </a:xfrm>
          <a:prstGeom prst="line">
            <a:avLst/>
          </a:prstGeom>
          <a:noFill/>
          <a:ln w="19050">
            <a:solidFill>
              <a:srgbClr val="9B86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6"/>
          <p:cNvSpPr/>
          <p:nvPr/>
        </p:nvSpPr>
        <p:spPr>
          <a:xfrm>
            <a:off x="5879592" y="4416552"/>
            <a:ext cx="420624" cy="420624"/>
          </a:xfrm>
          <a:prstGeom prst="ellipse">
            <a:avLst/>
          </a:prstGeom>
          <a:solidFill>
            <a:srgbClr val="9B86F0"/>
          </a:solidFill>
          <a:ln w="31750">
            <a:solidFill>
              <a:srgbClr val="0A0C1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7"/>
          <p:cNvSpPr/>
          <p:nvPr/>
        </p:nvSpPr>
        <p:spPr>
          <a:xfrm>
            <a:off x="5879592" y="441655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A0C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31" name="Shape 28"/>
          <p:cNvSpPr/>
          <p:nvPr/>
        </p:nvSpPr>
        <p:spPr>
          <a:xfrm>
            <a:off x="6611112" y="5038344"/>
            <a:ext cx="4956048" cy="1335024"/>
          </a:xfrm>
          <a:prstGeom prst="roundRect">
            <a:avLst>
              <a:gd name="adj" fmla="val 6164"/>
            </a:avLst>
          </a:prstGeom>
          <a:solidFill>
            <a:srgbClr val="11151D"/>
          </a:solidFill>
          <a:ln w="12700">
            <a:solidFill>
              <a:srgbClr val="242A36"/>
            </a:solidFill>
            <a:prstDash val="solid"/>
          </a:ln>
          <a:effectLst>
            <a:outerShdw blurRad="1143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2" name="Shape 29"/>
          <p:cNvSpPr/>
          <p:nvPr/>
        </p:nvSpPr>
        <p:spPr>
          <a:xfrm>
            <a:off x="6702552" y="5038344"/>
            <a:ext cx="4773168" cy="45720"/>
          </a:xfrm>
          <a:prstGeom prst="rect">
            <a:avLst/>
          </a:prstGeom>
          <a:solidFill>
            <a:srgbClr val="FF6F6F"/>
          </a:solidFill>
          <a:ln w="12700">
            <a:solidFill>
              <a:srgbClr val="FF6F6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0"/>
          <p:cNvSpPr/>
          <p:nvPr/>
        </p:nvSpPr>
        <p:spPr>
          <a:xfrm>
            <a:off x="6867144" y="5184648"/>
            <a:ext cx="3584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100" dirty="0">
                <a:solidFill>
                  <a:srgbClr val="FF6F6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LATER · EXECUTION</a:t>
            </a:r>
            <a:endParaRPr lang="en-US" sz="1150" dirty="0"/>
          </a:p>
        </p:txBody>
      </p:sp>
      <p:sp>
        <p:nvSpPr>
          <p:cNvPr id="34" name="Text 31"/>
          <p:cNvSpPr/>
          <p:nvPr/>
        </p:nvSpPr>
        <p:spPr>
          <a:xfrm>
            <a:off x="10332720" y="5184648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646C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2027</a:t>
            </a:r>
            <a:endParaRPr lang="en-US" sz="1050" dirty="0"/>
          </a:p>
        </p:txBody>
      </p:sp>
      <p:sp>
        <p:nvSpPr>
          <p:cNvPr id="35" name="Text 32"/>
          <p:cNvSpPr/>
          <p:nvPr/>
        </p:nvSpPr>
        <p:spPr>
          <a:xfrm>
            <a:off x="6867144" y="5513832"/>
            <a:ext cx="449884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EAE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Non-custodial, self-directed hedge execution</a:t>
            </a:r>
            <a:endParaRPr lang="en-US" sz="10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EAE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On-chain auditable runs (Walrus / Sui)</a:t>
            </a:r>
            <a:endParaRPr lang="en-US" sz="10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EAE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Embeddable SDK for any app</a:t>
            </a:r>
            <a:endParaRPr lang="en-US" sz="1050" dirty="0"/>
          </a:p>
        </p:txBody>
      </p:sp>
      <p:sp>
        <p:nvSpPr>
          <p:cNvPr id="36" name="Shape 33"/>
          <p:cNvSpPr/>
          <p:nvPr/>
        </p:nvSpPr>
        <p:spPr>
          <a:xfrm>
            <a:off x="6300216" y="5705856"/>
            <a:ext cx="310896" cy="0"/>
          </a:xfrm>
          <a:prstGeom prst="line">
            <a:avLst/>
          </a:prstGeom>
          <a:noFill/>
          <a:ln w="19050">
            <a:solidFill>
              <a:srgbClr val="FF6F6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Shape 34"/>
          <p:cNvSpPr/>
          <p:nvPr/>
        </p:nvSpPr>
        <p:spPr>
          <a:xfrm>
            <a:off x="5879592" y="5495544"/>
            <a:ext cx="420624" cy="420624"/>
          </a:xfrm>
          <a:prstGeom prst="ellipse">
            <a:avLst/>
          </a:prstGeom>
          <a:solidFill>
            <a:srgbClr val="FF6F6F"/>
          </a:solidFill>
          <a:ln w="31750">
            <a:solidFill>
              <a:srgbClr val="0A0C1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5"/>
          <p:cNvSpPr/>
          <p:nvPr/>
        </p:nvSpPr>
        <p:spPr>
          <a:xfrm>
            <a:off x="5879592" y="549554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A0C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39" name="Text 36"/>
          <p:cNvSpPr/>
          <p:nvPr/>
        </p:nvSpPr>
        <p:spPr>
          <a:xfrm>
            <a:off x="640080" y="643737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646C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VEYLIX</a:t>
            </a:r>
            <a:r>
              <a:rPr lang="en-US" sz="900" kern="0" spc="200" dirty="0">
                <a:solidFill>
                  <a:srgbClr val="646C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17 / 21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A0C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566928" cy="566928"/>
          </a:xfrm>
          <a:prstGeom prst="ellipse">
            <a:avLst/>
          </a:prstGeom>
          <a:solidFill>
            <a:srgbClr val="151A24"/>
          </a:solidFill>
          <a:ln w="12700">
            <a:solidFill>
              <a:srgbClr val="242A3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0158" y="627278"/>
            <a:ext cx="226771" cy="22677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56692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7E8A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HOW WE BUILT IT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640080" y="96012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300" b="1" dirty="0">
                <a:solidFill>
                  <a:srgbClr val="EAEC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backend. No black box.</a:t>
            </a:r>
            <a:endParaRPr lang="en-US" sz="3300" dirty="0"/>
          </a:p>
        </p:txBody>
      </p:sp>
      <p:sp>
        <p:nvSpPr>
          <p:cNvPr id="6" name="Shape 3"/>
          <p:cNvSpPr/>
          <p:nvPr/>
        </p:nvSpPr>
        <p:spPr>
          <a:xfrm>
            <a:off x="640080" y="2194560"/>
            <a:ext cx="3489960" cy="3154680"/>
          </a:xfrm>
          <a:prstGeom prst="roundRect">
            <a:avLst>
              <a:gd name="adj" fmla="val 2609"/>
            </a:avLst>
          </a:prstGeom>
          <a:solidFill>
            <a:srgbClr val="151A24"/>
          </a:solidFill>
          <a:ln w="12700">
            <a:solidFill>
              <a:srgbClr val="242A36"/>
            </a:solidFill>
            <a:prstDash val="solid"/>
          </a:ln>
          <a:effectLst>
            <a:outerShdw blurRad="1143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731520" y="2194560"/>
            <a:ext cx="3307080" cy="50292"/>
          </a:xfrm>
          <a:prstGeom prst="rect">
            <a:avLst/>
          </a:prstGeom>
          <a:solidFill>
            <a:srgbClr val="7E8AF5"/>
          </a:solidFill>
          <a:ln w="12700">
            <a:solidFill>
              <a:srgbClr val="7E8A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914400" y="2468880"/>
            <a:ext cx="548640" cy="548640"/>
          </a:xfrm>
          <a:prstGeom prst="ellipse">
            <a:avLst/>
          </a:prstGeom>
          <a:solidFill>
            <a:srgbClr val="151A24"/>
          </a:solidFill>
          <a:ln w="12700">
            <a:solidFill>
              <a:srgbClr val="242A3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8992" y="2633472"/>
            <a:ext cx="219456" cy="219456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914400" y="3154680"/>
            <a:ext cx="2941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AEC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data contract</a:t>
            </a:r>
            <a:endParaRPr lang="en-US" sz="1800" dirty="0"/>
          </a:p>
        </p:txBody>
      </p:sp>
      <p:sp>
        <p:nvSpPr>
          <p:cNvPr id="11" name="Text 7"/>
          <p:cNvSpPr/>
          <p:nvPr/>
        </p:nvSpPr>
        <p:spPr>
          <a:xfrm>
            <a:off x="914400" y="3584448"/>
            <a:ext cx="295960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AA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frozen v1 JSON contract — per-asset beta, idiosyncratic vol, BTC factor vol, carry — plus Bybit wallet-shape portfolios. Engine produces it; the frontend consumes it.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914400" y="4965192"/>
            <a:ext cx="2941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7E8A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 v1 · frozen schema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4358640" y="2194560"/>
            <a:ext cx="3489960" cy="3154680"/>
          </a:xfrm>
          <a:prstGeom prst="roundRect">
            <a:avLst>
              <a:gd name="adj" fmla="val 2609"/>
            </a:avLst>
          </a:prstGeom>
          <a:solidFill>
            <a:srgbClr val="151A24"/>
          </a:solidFill>
          <a:ln w="12700">
            <a:solidFill>
              <a:srgbClr val="242A36"/>
            </a:solidFill>
            <a:prstDash val="solid"/>
          </a:ln>
          <a:effectLst>
            <a:outerShdw blurRad="1143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0"/>
          <p:cNvSpPr/>
          <p:nvPr/>
        </p:nvSpPr>
        <p:spPr>
          <a:xfrm>
            <a:off x="4450080" y="2194560"/>
            <a:ext cx="3307080" cy="50292"/>
          </a:xfrm>
          <a:prstGeom prst="rect">
            <a:avLst/>
          </a:prstGeom>
          <a:solidFill>
            <a:srgbClr val="52C7E8"/>
          </a:solidFill>
          <a:ln w="12700">
            <a:solidFill>
              <a:srgbClr val="52C7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1"/>
          <p:cNvSpPr/>
          <p:nvPr/>
        </p:nvSpPr>
        <p:spPr>
          <a:xfrm>
            <a:off x="4632960" y="2468880"/>
            <a:ext cx="548640" cy="548640"/>
          </a:xfrm>
          <a:prstGeom prst="ellipse">
            <a:avLst/>
          </a:prstGeom>
          <a:solidFill>
            <a:srgbClr val="151A24"/>
          </a:solidFill>
          <a:ln w="12700">
            <a:solidFill>
              <a:srgbClr val="242A3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97552" y="2633472"/>
            <a:ext cx="219456" cy="21945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4632960" y="3154680"/>
            <a:ext cx="2941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AEC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simulation</a:t>
            </a:r>
            <a:endParaRPr lang="en-US" sz="1800" dirty="0"/>
          </a:p>
        </p:txBody>
      </p:sp>
      <p:sp>
        <p:nvSpPr>
          <p:cNvPr id="18" name="Text 13"/>
          <p:cNvSpPr/>
          <p:nvPr/>
        </p:nvSpPr>
        <p:spPr>
          <a:xfrm>
            <a:off x="4632960" y="3584448"/>
            <a:ext cx="295960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AA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veylix-sim.js: a single-factor, zero-drift dispersion model. ~3,000 paths, fixed seed (0x5EED5). Same inputs always reproduce the same numbers.</a:t>
            </a:r>
            <a:endParaRPr lang="en-US" sz="1200" dirty="0"/>
          </a:p>
        </p:txBody>
      </p:sp>
      <p:sp>
        <p:nvSpPr>
          <p:cNvPr id="19" name="Text 14"/>
          <p:cNvSpPr/>
          <p:nvPr/>
        </p:nvSpPr>
        <p:spPr>
          <a:xfrm>
            <a:off x="4632960" y="4965192"/>
            <a:ext cx="2941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52C7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3,000 paths · fixed seed</a:t>
            </a:r>
            <a:endParaRPr lang="en-US" sz="1100" dirty="0"/>
          </a:p>
        </p:txBody>
      </p:sp>
      <p:sp>
        <p:nvSpPr>
          <p:cNvPr id="20" name="Shape 15"/>
          <p:cNvSpPr/>
          <p:nvPr/>
        </p:nvSpPr>
        <p:spPr>
          <a:xfrm>
            <a:off x="8077200" y="2194560"/>
            <a:ext cx="3489960" cy="3154680"/>
          </a:xfrm>
          <a:prstGeom prst="roundRect">
            <a:avLst>
              <a:gd name="adj" fmla="val 2609"/>
            </a:avLst>
          </a:prstGeom>
          <a:solidFill>
            <a:srgbClr val="151A24"/>
          </a:solidFill>
          <a:ln w="12700">
            <a:solidFill>
              <a:srgbClr val="242A36"/>
            </a:solidFill>
            <a:prstDash val="solid"/>
          </a:ln>
          <a:effectLst>
            <a:outerShdw blurRad="1143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6"/>
          <p:cNvSpPr/>
          <p:nvPr/>
        </p:nvSpPr>
        <p:spPr>
          <a:xfrm>
            <a:off x="8168640" y="2194560"/>
            <a:ext cx="3307080" cy="50292"/>
          </a:xfrm>
          <a:prstGeom prst="rect">
            <a:avLst/>
          </a:prstGeom>
          <a:solidFill>
            <a:srgbClr val="9B86F0"/>
          </a:solidFill>
          <a:ln w="12700">
            <a:solidFill>
              <a:srgbClr val="9B86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17"/>
          <p:cNvSpPr/>
          <p:nvPr/>
        </p:nvSpPr>
        <p:spPr>
          <a:xfrm>
            <a:off x="8351520" y="2468880"/>
            <a:ext cx="548640" cy="548640"/>
          </a:xfrm>
          <a:prstGeom prst="ellipse">
            <a:avLst/>
          </a:prstGeom>
          <a:solidFill>
            <a:srgbClr val="151A24"/>
          </a:solidFill>
          <a:ln w="12700">
            <a:solidFill>
              <a:srgbClr val="242A3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16112" y="2633472"/>
            <a:ext cx="219456" cy="219456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8351520" y="3154680"/>
            <a:ext cx="2941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AEC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stack</a:t>
            </a:r>
            <a:endParaRPr lang="en-US" sz="1800" dirty="0"/>
          </a:p>
        </p:txBody>
      </p:sp>
      <p:sp>
        <p:nvSpPr>
          <p:cNvPr id="25" name="Text 19"/>
          <p:cNvSpPr/>
          <p:nvPr/>
        </p:nvSpPr>
        <p:spPr>
          <a:xfrm>
            <a:off x="8351520" y="3584448"/>
            <a:ext cx="295960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AA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Client-side by design — no backend, no server to trust. The model runs in the browser, so anyone can open it and verify the math. quant_engine → frontend.</a:t>
            </a:r>
            <a:endParaRPr lang="en-US" sz="1200" dirty="0"/>
          </a:p>
        </p:txBody>
      </p:sp>
      <p:sp>
        <p:nvSpPr>
          <p:cNvPr id="26" name="Text 20"/>
          <p:cNvSpPr/>
          <p:nvPr/>
        </p:nvSpPr>
        <p:spPr>
          <a:xfrm>
            <a:off x="8351520" y="4965192"/>
            <a:ext cx="2941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9B8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 backend · 100% client-side</a:t>
            </a:r>
            <a:endParaRPr lang="en-US" sz="1100" dirty="0"/>
          </a:p>
        </p:txBody>
      </p:sp>
      <p:sp>
        <p:nvSpPr>
          <p:cNvPr id="27" name="Shape 21"/>
          <p:cNvSpPr/>
          <p:nvPr/>
        </p:nvSpPr>
        <p:spPr>
          <a:xfrm>
            <a:off x="640080" y="5669280"/>
            <a:ext cx="10927080" cy="548640"/>
          </a:xfrm>
          <a:prstGeom prst="roundRect">
            <a:avLst>
              <a:gd name="adj" fmla="val 15000"/>
            </a:avLst>
          </a:prstGeom>
          <a:solidFill>
            <a:srgbClr val="11151D"/>
          </a:solidFill>
          <a:ln w="12700">
            <a:solidFill>
              <a:srgbClr val="242A36"/>
            </a:solidFill>
            <a:prstDash val="solid"/>
          </a:ln>
          <a:effectLst>
            <a:outerShdw blurRad="1143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8" name="Text 22"/>
          <p:cNvSpPr/>
          <p:nvPr/>
        </p:nvSpPr>
        <p:spPr>
          <a:xfrm>
            <a:off x="914400" y="5705856"/>
            <a:ext cx="10424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7E8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Verifiable, not trusted:  </a:t>
            </a:r>
            <a:r>
              <a:rPr lang="en-US" sz="1400" dirty="0">
                <a:solidFill>
                  <a:srgbClr val="EAE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math lives in the page — anyone can open it, re-run it, and get the identical result.</a:t>
            </a:r>
            <a:endParaRPr lang="en-US" sz="1400" dirty="0"/>
          </a:p>
        </p:txBody>
      </p:sp>
      <p:sp>
        <p:nvSpPr>
          <p:cNvPr id="29" name="Text 23"/>
          <p:cNvSpPr/>
          <p:nvPr/>
        </p:nvSpPr>
        <p:spPr>
          <a:xfrm>
            <a:off x="640080" y="643737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646C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VEYLIX</a:t>
            </a:r>
            <a:r>
              <a:rPr lang="en-US" sz="900" kern="0" spc="200" dirty="0">
                <a:solidFill>
                  <a:srgbClr val="646C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18 / 21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A0C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566928" cy="566928"/>
          </a:xfrm>
          <a:prstGeom prst="ellipse">
            <a:avLst/>
          </a:prstGeom>
          <a:solidFill>
            <a:srgbClr val="151A24"/>
          </a:solidFill>
          <a:ln w="12700">
            <a:solidFill>
              <a:srgbClr val="242A3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0158" y="627278"/>
            <a:ext cx="226771" cy="22677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56692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7E8A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AGAINST THE RUBRIC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640080" y="96012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300" b="1" dirty="0">
                <a:solidFill>
                  <a:srgbClr val="EAEC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Veylix scores.</a:t>
            </a:r>
            <a:endParaRPr lang="en-US" sz="33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2057400"/>
          <a:ext cx="10927080" cy="3950208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1838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9377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7E8AF5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CRITERION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A2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7E8AF5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HOW WE HIT IT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A2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377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EAECF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BGA ethos · 20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9AA1B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Institutional Monte Carlo for retail; reduces information asymmetry; no advice, no extraction.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377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EAECF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Innovation &amp; tech · 20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9AA1B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Novel AI for transparency, not prediction; Monte Carlo + VaR; deterministic, client-side by design; meaningful Bybit use — beyond a thin wrapper.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377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EAECF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Strategy &amp; risk · 15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9AA1B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Zero-drift — nothing to overfit; read-only — no execution or runaway; surfaces drawdown, volatility &amp; liquidation risk.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9377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EAECF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Transparency · 15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9AA1B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Every number explained; methodology on screen; fixed-seed reproducible; on-chain runs (roadmap).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9377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EAECF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Real-world impact · 10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9AA1B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real, costly problem; connects live accounts; accessible to non-institutions.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9377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EAECF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Accessibility &amp; UX · 10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9AA1B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 screen, dark and legible; complex risk made simple.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9377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EAECF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Execution &amp; demo · 10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9AA1B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Working MVP on live Bybit data; the hedge-drag demo moment.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7" name="Text 3"/>
          <p:cNvSpPr/>
          <p:nvPr/>
        </p:nvSpPr>
        <p:spPr>
          <a:xfrm>
            <a:off x="640080" y="6163056"/>
            <a:ext cx="10927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7E8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Also built for Solvimon · business:  </a:t>
            </a:r>
            <a:r>
              <a:rPr lang="en-US" sz="1250" dirty="0">
                <a:solidFill>
                  <a:srgbClr val="9AA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real company — clear customer, validated problem, sensible monetisation (slides 7–11).</a:t>
            </a:r>
            <a:endParaRPr lang="en-US" sz="1250" dirty="0"/>
          </a:p>
        </p:txBody>
      </p:sp>
      <p:sp>
        <p:nvSpPr>
          <p:cNvPr id="8" name="Text 4"/>
          <p:cNvSpPr/>
          <p:nvPr/>
        </p:nvSpPr>
        <p:spPr>
          <a:xfrm>
            <a:off x="640080" y="643737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646C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VEYLIX</a:t>
            </a:r>
            <a:r>
              <a:rPr lang="en-US" sz="900" kern="0" spc="200" dirty="0">
                <a:solidFill>
                  <a:srgbClr val="646C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19 / 21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A0C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7E8A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PEOPLE BEHIND IT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41248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300" b="1" dirty="0">
                <a:solidFill>
                  <a:srgbClr val="EAEC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team.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640080" y="2194560"/>
            <a:ext cx="1653540" cy="3200400"/>
          </a:xfrm>
          <a:prstGeom prst="roundRect">
            <a:avLst>
              <a:gd name="adj" fmla="val 4977"/>
            </a:avLst>
          </a:prstGeom>
          <a:solidFill>
            <a:srgbClr val="151A24"/>
          </a:solidFill>
          <a:ln w="12700">
            <a:solidFill>
              <a:srgbClr val="242A36"/>
            </a:solidFill>
            <a:prstDash val="solid"/>
          </a:ln>
          <a:effectLst>
            <a:outerShdw blurRad="1143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009650" y="2578608"/>
            <a:ext cx="914400" cy="914400"/>
          </a:xfrm>
          <a:prstGeom prst="ellipse">
            <a:avLst/>
          </a:prstGeom>
          <a:solidFill>
            <a:srgbClr val="1B2230"/>
          </a:solidFill>
          <a:ln w="19050">
            <a:solidFill>
              <a:srgbClr val="7E8A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009650" y="2578608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7E8A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694944" y="3657600"/>
            <a:ext cx="15438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AEC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Terry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85800" y="4041648"/>
            <a:ext cx="15621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7E8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Manager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1146810" y="4773168"/>
            <a:ext cx="640080" cy="0"/>
          </a:xfrm>
          <a:prstGeom prst="line">
            <a:avLst/>
          </a:prstGeom>
          <a:noFill/>
          <a:ln w="12700">
            <a:solidFill>
              <a:srgbClr val="242A3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85800" y="4846320"/>
            <a:ext cx="15621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9AA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&amp; vision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2494788" y="2194560"/>
            <a:ext cx="1653540" cy="3200400"/>
          </a:xfrm>
          <a:prstGeom prst="roundRect">
            <a:avLst>
              <a:gd name="adj" fmla="val 4977"/>
            </a:avLst>
          </a:prstGeom>
          <a:solidFill>
            <a:srgbClr val="151A24"/>
          </a:solidFill>
          <a:ln w="12700">
            <a:solidFill>
              <a:srgbClr val="242A36"/>
            </a:solidFill>
            <a:prstDash val="solid"/>
          </a:ln>
          <a:effectLst>
            <a:outerShdw blurRad="1143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2864358" y="2578608"/>
            <a:ext cx="914400" cy="914400"/>
          </a:xfrm>
          <a:prstGeom prst="ellipse">
            <a:avLst/>
          </a:prstGeom>
          <a:solidFill>
            <a:srgbClr val="1B2230"/>
          </a:solidFill>
          <a:ln w="19050">
            <a:solidFill>
              <a:srgbClr val="7E8A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2864358" y="2578608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7E8A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2549652" y="3657600"/>
            <a:ext cx="15438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AEC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Ashish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2540508" y="4041648"/>
            <a:ext cx="15621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7E8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Lead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3001518" y="4773168"/>
            <a:ext cx="640080" cy="0"/>
          </a:xfrm>
          <a:prstGeom prst="line">
            <a:avLst/>
          </a:prstGeom>
          <a:noFill/>
          <a:ln w="12700">
            <a:solidFill>
              <a:srgbClr val="242A3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2540508" y="4846320"/>
            <a:ext cx="15621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9AA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&amp; build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349496" y="2194560"/>
            <a:ext cx="1653540" cy="3200400"/>
          </a:xfrm>
          <a:prstGeom prst="roundRect">
            <a:avLst>
              <a:gd name="adj" fmla="val 4977"/>
            </a:avLst>
          </a:prstGeom>
          <a:solidFill>
            <a:srgbClr val="151A24"/>
          </a:solidFill>
          <a:ln w="12700">
            <a:solidFill>
              <a:srgbClr val="242A36"/>
            </a:solidFill>
            <a:prstDash val="solid"/>
          </a:ln>
          <a:effectLst>
            <a:outerShdw blurRad="1143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4719066" y="2578608"/>
            <a:ext cx="914400" cy="914400"/>
          </a:xfrm>
          <a:prstGeom prst="ellipse">
            <a:avLst/>
          </a:prstGeom>
          <a:solidFill>
            <a:srgbClr val="1B2230"/>
          </a:solidFill>
          <a:ln w="19050">
            <a:solidFill>
              <a:srgbClr val="7E8A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719066" y="2578608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7E8A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4404360" y="3657600"/>
            <a:ext cx="15438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AEC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Raj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4395216" y="4041648"/>
            <a:ext cx="15621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7E8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Advisor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4856226" y="4773168"/>
            <a:ext cx="640080" cy="0"/>
          </a:xfrm>
          <a:prstGeom prst="line">
            <a:avLst/>
          </a:prstGeom>
          <a:noFill/>
          <a:ln w="12700">
            <a:solidFill>
              <a:srgbClr val="242A3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4395216" y="4846320"/>
            <a:ext cx="15621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9AA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core contributor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6204204" y="2194560"/>
            <a:ext cx="1653540" cy="3200400"/>
          </a:xfrm>
          <a:prstGeom prst="roundRect">
            <a:avLst>
              <a:gd name="adj" fmla="val 4977"/>
            </a:avLst>
          </a:prstGeom>
          <a:solidFill>
            <a:srgbClr val="151A24"/>
          </a:solidFill>
          <a:ln w="12700">
            <a:solidFill>
              <a:srgbClr val="242A36"/>
            </a:solidFill>
            <a:prstDash val="solid"/>
          </a:ln>
          <a:effectLst>
            <a:outerShdw blurRad="1143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6573774" y="2578608"/>
            <a:ext cx="914400" cy="914400"/>
          </a:xfrm>
          <a:prstGeom prst="ellipse">
            <a:avLst/>
          </a:prstGeom>
          <a:solidFill>
            <a:srgbClr val="1B2230"/>
          </a:solidFill>
          <a:ln w="19050">
            <a:solidFill>
              <a:srgbClr val="7E8A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6573774" y="2578608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7E8A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</a:t>
            </a:r>
            <a:endParaRPr lang="en-US" sz="2600" dirty="0"/>
          </a:p>
        </p:txBody>
      </p:sp>
      <p:sp>
        <p:nvSpPr>
          <p:cNvPr id="28" name="Text 26"/>
          <p:cNvSpPr/>
          <p:nvPr/>
        </p:nvSpPr>
        <p:spPr>
          <a:xfrm>
            <a:off x="6259068" y="3657600"/>
            <a:ext cx="15438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AEC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Jia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6249924" y="4041648"/>
            <a:ext cx="15621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7E8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Advisor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6710934" y="4773168"/>
            <a:ext cx="640080" cy="0"/>
          </a:xfrm>
          <a:prstGeom prst="line">
            <a:avLst/>
          </a:prstGeom>
          <a:noFill/>
          <a:ln w="12700">
            <a:solidFill>
              <a:srgbClr val="242A3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6249924" y="4846320"/>
            <a:ext cx="15621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9AA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8058912" y="2194560"/>
            <a:ext cx="1653540" cy="3200400"/>
          </a:xfrm>
          <a:prstGeom prst="roundRect">
            <a:avLst>
              <a:gd name="adj" fmla="val 4977"/>
            </a:avLst>
          </a:prstGeom>
          <a:solidFill>
            <a:srgbClr val="151A24"/>
          </a:solidFill>
          <a:ln w="12700">
            <a:solidFill>
              <a:srgbClr val="242A36"/>
            </a:solidFill>
            <a:prstDash val="solid"/>
          </a:ln>
          <a:effectLst>
            <a:outerShdw blurRad="1143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8428482" y="2578608"/>
            <a:ext cx="914400" cy="914400"/>
          </a:xfrm>
          <a:prstGeom prst="ellipse">
            <a:avLst/>
          </a:prstGeom>
          <a:solidFill>
            <a:srgbClr val="1B2230"/>
          </a:solidFill>
          <a:ln w="19050">
            <a:solidFill>
              <a:srgbClr val="7E8A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8428482" y="2578608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7E8A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</a:t>
            </a:r>
            <a:endParaRPr lang="en-US" sz="2600" dirty="0"/>
          </a:p>
        </p:txBody>
      </p:sp>
      <p:sp>
        <p:nvSpPr>
          <p:cNvPr id="35" name="Text 33"/>
          <p:cNvSpPr/>
          <p:nvPr/>
        </p:nvSpPr>
        <p:spPr>
          <a:xfrm>
            <a:off x="8113776" y="3657600"/>
            <a:ext cx="15438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AEC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Lilian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8104632" y="4041648"/>
            <a:ext cx="15621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7E8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Advisor</a:t>
            </a:r>
            <a:endParaRPr lang="en-US" sz="1150" dirty="0"/>
          </a:p>
        </p:txBody>
      </p:sp>
      <p:sp>
        <p:nvSpPr>
          <p:cNvPr id="37" name="Shape 35"/>
          <p:cNvSpPr/>
          <p:nvPr/>
        </p:nvSpPr>
        <p:spPr>
          <a:xfrm>
            <a:off x="8565642" y="4773168"/>
            <a:ext cx="640080" cy="0"/>
          </a:xfrm>
          <a:prstGeom prst="line">
            <a:avLst/>
          </a:prstGeom>
          <a:noFill/>
          <a:ln w="12700">
            <a:solidFill>
              <a:srgbClr val="242A3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8104632" y="4846320"/>
            <a:ext cx="15621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9AA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9913620" y="2194560"/>
            <a:ext cx="1653540" cy="3200400"/>
          </a:xfrm>
          <a:prstGeom prst="roundRect">
            <a:avLst>
              <a:gd name="adj" fmla="val 4977"/>
            </a:avLst>
          </a:prstGeom>
          <a:solidFill>
            <a:srgbClr val="151A24"/>
          </a:solidFill>
          <a:ln w="12700">
            <a:solidFill>
              <a:srgbClr val="242A36"/>
            </a:solidFill>
            <a:prstDash val="solid"/>
          </a:ln>
          <a:effectLst>
            <a:outerShdw blurRad="1143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0" name="Shape 38"/>
          <p:cNvSpPr/>
          <p:nvPr/>
        </p:nvSpPr>
        <p:spPr>
          <a:xfrm>
            <a:off x="10283190" y="2578608"/>
            <a:ext cx="914400" cy="914400"/>
          </a:xfrm>
          <a:prstGeom prst="ellipse">
            <a:avLst/>
          </a:prstGeom>
          <a:solidFill>
            <a:srgbClr val="1B2230"/>
          </a:solidFill>
          <a:ln w="19050">
            <a:solidFill>
              <a:srgbClr val="7E8A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10283190" y="2578608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7E8A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</a:t>
            </a:r>
            <a:endParaRPr lang="en-US" sz="2600" dirty="0"/>
          </a:p>
        </p:txBody>
      </p:sp>
      <p:sp>
        <p:nvSpPr>
          <p:cNvPr id="42" name="Text 40"/>
          <p:cNvSpPr/>
          <p:nvPr/>
        </p:nvSpPr>
        <p:spPr>
          <a:xfrm>
            <a:off x="9968484" y="3657600"/>
            <a:ext cx="15438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AEC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Patti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9959340" y="4041648"/>
            <a:ext cx="15621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7E8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UX &amp; Design Lead</a:t>
            </a:r>
            <a:endParaRPr lang="en-US" sz="1150" dirty="0"/>
          </a:p>
        </p:txBody>
      </p:sp>
      <p:sp>
        <p:nvSpPr>
          <p:cNvPr id="44" name="Shape 42"/>
          <p:cNvSpPr/>
          <p:nvPr/>
        </p:nvSpPr>
        <p:spPr>
          <a:xfrm>
            <a:off x="10420350" y="4773168"/>
            <a:ext cx="640080" cy="0"/>
          </a:xfrm>
          <a:prstGeom prst="line">
            <a:avLst/>
          </a:prstGeom>
          <a:noFill/>
          <a:ln w="12700">
            <a:solidFill>
              <a:srgbClr val="242A3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9959340" y="4846320"/>
            <a:ext cx="15621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9AA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&amp; strategy</a:t>
            </a:r>
            <a:endParaRPr lang="en-US" sz="1050" dirty="0"/>
          </a:p>
        </p:txBody>
      </p:sp>
      <p:sp>
        <p:nvSpPr>
          <p:cNvPr id="46" name="Text 44"/>
          <p:cNvSpPr/>
          <p:nvPr/>
        </p:nvSpPr>
        <p:spPr>
          <a:xfrm>
            <a:off x="640080" y="643737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646C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VEYLIX</a:t>
            </a:r>
            <a:r>
              <a:rPr lang="en-US" sz="900" kern="0" spc="200" dirty="0">
                <a:solidFill>
                  <a:srgbClr val="646C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20 / 21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A0C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/>
          <p:nvPr/>
        </p:nvSpPr>
        <p:spPr>
          <a:xfrm>
            <a:off x="686880" y="548640"/>
            <a:ext cx="540000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lang="en-US" sz="1200" b="1" spc="300" dirty="0">
                <a:solidFill>
                  <a:srgbClr val="7E8AF5"/>
                </a:solidFill>
                <a:latin typeface="Courier New"/>
                <a:cs typeface="Courier New"/>
              </a:rPr>
              <a:t>TRY IT — LIVE IN YOUR BROWSER</a:t>
            </a:r>
          </a:p>
        </p:txBody>
      </p:sp>
      <p:sp>
        <p:nvSpPr>
          <p:cNvPr id="3" name="H1"/>
          <p:cNvSpPr/>
          <p:nvPr/>
        </p:nvSpPr>
        <p:spPr>
          <a:xfrm>
            <a:off x="686880" y="1158240"/>
            <a:ext cx="5700000" cy="1600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>
              <a:lnSpc>
                <a:spcPct val="98000"/>
              </a:lnSpc>
              <a:buNone/>
            </a:pPr>
            <a:r>
              <a:rPr lang="en-US" sz="5400" b="1" dirty="0">
                <a:solidFill>
                  <a:srgbClr val="EAECF2"/>
                </a:solidFill>
                <a:latin typeface="Arial"/>
                <a:cs typeface="Arial"/>
              </a:rPr>
              <a:t>Try it.</a:t>
            </a:r>
          </a:p>
          <a:p>
            <a:pPr marL="0" indent="0">
              <a:lnSpc>
                <a:spcPct val="98000"/>
              </a:lnSpc>
              <a:buNone/>
            </a:pPr>
            <a:r>
              <a:rPr lang="en-US" sz="5400" b="1" dirty="0">
                <a:solidFill>
                  <a:srgbClr val="7E8AF5"/>
                </a:solidFill>
                <a:latin typeface="Arial"/>
                <a:cs typeface="Arial"/>
              </a:rPr>
              <a:t>Right now.</a:t>
            </a:r>
          </a:p>
        </p:txBody>
      </p:sp>
      <p:sp>
        <p:nvSpPr>
          <p:cNvPr id="4" name="Sub"/>
          <p:cNvSpPr/>
          <p:nvPr/>
        </p:nvSpPr>
        <p:spPr>
          <a:xfrm>
            <a:off x="686880" y="2880360"/>
            <a:ext cx="5400000" cy="6400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>
              <a:buNone/>
            </a:pPr>
            <a:r>
              <a:rPr lang="en-US" sz="1900" dirty="0">
                <a:solidFill>
                  <a:srgbClr val="9AA1B2"/>
                </a:solidFill>
                <a:latin typeface="Calibri"/>
                <a:cs typeface="Calibri"/>
              </a:rPr>
              <a:t>See your real downside on your own portfolio — free, in your browser. No signup.</a:t>
            </a:r>
          </a:p>
        </p:txBody>
      </p:sp>
      <p:sp>
        <p:nvSpPr>
          <p:cNvPr id="5" name="Steps"/>
          <p:cNvSpPr/>
          <p:nvPr/>
        </p:nvSpPr>
        <p:spPr>
          <a:xfrm>
            <a:off x="686880" y="3840480"/>
            <a:ext cx="5400000" cy="14630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>
              <a:spcAft>
                <a:spcPts val="1100"/>
              </a:spcAft>
              <a:buNone/>
            </a:pPr>
            <a:r>
              <a:rPr lang="en-US" sz="2000" b="1" dirty="0">
                <a:solidFill>
                  <a:srgbClr val="7E8AF5"/>
                </a:solidFill>
                <a:latin typeface="Courier New"/>
                <a:cs typeface="Courier New"/>
              </a:rPr>
              <a:t>01  </a:t>
            </a:r>
            <a:r>
              <a:rPr lang="en-US" sz="2000" b="1" dirty="0">
                <a:solidFill>
                  <a:srgbClr val="EAECF2"/>
                </a:solidFill>
                <a:latin typeface="Arial"/>
                <a:cs typeface="Arial"/>
              </a:rPr>
              <a:t>Connect your wallet</a:t>
            </a:r>
          </a:p>
          <a:p>
            <a:pPr marL="0" indent="0">
              <a:spcAft>
                <a:spcPts val="1100"/>
              </a:spcAft>
              <a:buNone/>
            </a:pPr>
            <a:r>
              <a:rPr lang="en-US" sz="2000" b="1" dirty="0">
                <a:solidFill>
                  <a:srgbClr val="7E8AF5"/>
                </a:solidFill>
                <a:latin typeface="Courier New"/>
                <a:cs typeface="Courier New"/>
              </a:rPr>
              <a:t>02  </a:t>
            </a:r>
            <a:r>
              <a:rPr lang="en-US" sz="2000" b="1" dirty="0">
                <a:solidFill>
                  <a:srgbClr val="EAECF2"/>
                </a:solidFill>
                <a:latin typeface="Arial"/>
                <a:cs typeface="Arial"/>
              </a:rPr>
              <a:t>See your worst case</a:t>
            </a:r>
          </a:p>
          <a:p>
            <a:pPr marL="0" indent="0">
              <a:buNone/>
            </a:pPr>
            <a:r>
              <a:rPr lang="en-US" sz="2000" b="1" dirty="0">
                <a:solidFill>
                  <a:srgbClr val="7E8AF5"/>
                </a:solidFill>
                <a:latin typeface="Courier New"/>
                <a:cs typeface="Courier New"/>
              </a:rPr>
              <a:t>03  </a:t>
            </a:r>
            <a:r>
              <a:rPr lang="en-US" sz="2000" b="1" dirty="0">
                <a:solidFill>
                  <a:srgbClr val="EAECF2"/>
                </a:solidFill>
                <a:latin typeface="Arial"/>
                <a:cs typeface="Arial"/>
              </a:rPr>
              <a:t>Hedge it in one move</a:t>
            </a:r>
          </a:p>
        </p:txBody>
      </p:sp>
      <p:sp>
        <p:nvSpPr>
          <p:cNvPr id="6" name="ScanMe"/>
          <p:cNvSpPr/>
          <p:nvPr/>
        </p:nvSpPr>
        <p:spPr>
          <a:xfrm>
            <a:off x="7772400" y="822960"/>
            <a:ext cx="3657600" cy="5486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lang="en-US" sz="3200" b="1" spc="200" dirty="0">
                <a:solidFill>
                  <a:srgbClr val="EAECF2"/>
                </a:solidFill>
                <a:latin typeface="Arial"/>
                <a:cs typeface="Arial"/>
              </a:rPr>
              <a:t>SCAN ME</a:t>
            </a:r>
          </a:p>
        </p:txBody>
      </p:sp>
      <p:sp>
        <p:nvSpPr>
          <p:cNvPr id="7" name="Frame"/>
          <p:cNvSpPr/>
          <p:nvPr/>
        </p:nvSpPr>
        <p:spPr>
          <a:xfrm>
            <a:off x="8229600" y="1508760"/>
            <a:ext cx="2743200" cy="2743200"/>
          </a:xfrm>
          <a:prstGeom prst="roundRect">
            <a:avLst>
              <a:gd name="adj" fmla="val 6000"/>
            </a:avLst>
          </a:prstGeom>
          <a:solidFill>
            <a:srgbClr val="0F1320"/>
          </a:solidFill>
          <a:ln w="19050">
            <a:solidFill>
              <a:srgbClr val="7E8AF5"/>
            </a:solidFill>
          </a:ln>
        </p:spPr>
        <p:txBody>
          <a:bodyPr/>
          <a:lstStyle/>
          <a:p>
            <a:endParaRPr lang="en-US"/>
          </a:p>
        </p:txBody>
      </p:sp>
      <p:pic>
        <p:nvPicPr>
          <p:cNvPr id="8" name="Q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0" y="1691640"/>
            <a:ext cx="2377440" cy="2377440"/>
          </a:xfrm>
          <a:prstGeom prst="rect">
            <a:avLst/>
          </a:prstGeom>
        </p:spPr>
      </p:pic>
      <p:sp>
        <p:nvSpPr>
          <p:cNvPr id="9" name="URL"/>
          <p:cNvSpPr/>
          <p:nvPr/>
        </p:nvSpPr>
        <p:spPr>
          <a:xfrm>
            <a:off x="7772400" y="4389120"/>
            <a:ext cx="3657600" cy="3200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7E8AF5"/>
                </a:solidFill>
                <a:latin typeface="Courier New"/>
                <a:cs typeface="Courier New"/>
              </a:rPr>
              <a:t>team-veylix-r656.vercel.app</a:t>
            </a:r>
          </a:p>
        </p:txBody>
      </p:sp>
      <p:sp>
        <p:nvSpPr>
          <p:cNvPr id="10" name="QRcap"/>
          <p:cNvSpPr/>
          <p:nvPr/>
        </p:nvSpPr>
        <p:spPr>
          <a:xfrm>
            <a:off x="7772400" y="4754880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9AA1B2"/>
                </a:solidFill>
                <a:latin typeface="Calibri"/>
                <a:cs typeface="Calibri"/>
              </a:rPr>
              <a:t>Free · No signup · Works on mobile</a:t>
            </a:r>
          </a:p>
        </p:txBody>
      </p:sp>
      <p:sp>
        <p:nvSpPr>
          <p:cNvPr id="11" name="Tagline"/>
          <p:cNvSpPr/>
          <p:nvPr/>
        </p:nvSpPr>
        <p:spPr>
          <a:xfrm>
            <a:off x="686880" y="5638800"/>
            <a:ext cx="6000000" cy="3200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lang="en-US" sz="1800" b="1" i="1" dirty="0">
                <a:solidFill>
                  <a:srgbClr val="EAECF2"/>
                </a:solidFill>
                <a:latin typeface="Calibri"/>
                <a:cs typeface="Calibri"/>
              </a:rPr>
              <a:t>Veylix — see the consequence first.</a:t>
            </a:r>
          </a:p>
        </p:txBody>
      </p:sp>
      <p:sp>
        <p:nvSpPr>
          <p:cNvPr id="12" name="Credit"/>
          <p:cNvSpPr/>
          <p:nvPr/>
        </p:nvSpPr>
        <p:spPr>
          <a:xfrm>
            <a:off x="686880" y="6355080"/>
            <a:ext cx="1081824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lang="en-US" sz="900" b="1" spc="200" dirty="0">
                <a:solidFill>
                  <a:srgbClr val="646C7C"/>
                </a:solidFill>
                <a:latin typeface="Courier New"/>
                <a:cs typeface="Courier New"/>
              </a:rPr>
              <a:t>BUILT BY TEAM VEYLIX  ·  TERRY · ASHISH · RAJ · JIA · LILIAN · PATTI  ·  GITHUB.COM/TERRYTRL100/TEAM-VEYLIX  ·  MIT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2238</Words>
  <Application>Microsoft Macintosh PowerPoint</Application>
  <PresentationFormat>Widescreen</PresentationFormat>
  <Paragraphs>384</Paragraphs>
  <Slides>21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5" baseType="lpstr">
      <vt:lpstr>Arial</vt:lpstr>
      <vt:lpstr>Calibri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Veylix — Pitch Deck</dc:title>
  <dc:subject>PptxGenJS Presentation</dc:subject>
  <dc:creator>Team Veylix</dc:creator>
  <cp:lastModifiedBy>Patricia Kusch</cp:lastModifiedBy>
  <cp:revision>2</cp:revision>
  <dcterms:created xsi:type="dcterms:W3CDTF">2026-06-20T18:10:18Z</dcterms:created>
  <dcterms:modified xsi:type="dcterms:W3CDTF">2026-06-21T11:31:41Z</dcterms:modified>
</cp:coreProperties>
</file>