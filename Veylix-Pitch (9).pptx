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58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 × BLOCKCHAIN FOR GOOD  ·  AI TRADING &amp; STRATEGY</a:t>
            </a:r>
            <a:endParaRPr lang="en-US" sz="1300" dirty="0"/>
          </a:p>
        </p:txBody>
      </p:sp>
      <p:pic>
        <p:nvPicPr>
          <p:cNvPr id="3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71600"/>
            <a:ext cx="6766560" cy="3602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13892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 for retail crypto. Institutional risk math, made legible and transparent.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A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Veylix</a:t>
            </a:r>
            <a:r>
              <a:rPr lang="en-US" sz="1300" kern="0" spc="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Terry · Ashish · Raj · Jia · Lilian · Patti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can act in one tap — and can't see the risk.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~80%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traders using leverage lose money over any sustained period.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 research firms, 2024–25; NFTEvening 2025 (84% in year one)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buy, sell, and hold the most volatile assets on the market instantly — and trade on: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43600" y="3246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PnL screen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 from Discord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5074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stays invisible until it's already realised.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INFORMATION GAP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manage uncertainty. Retail just hopes.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INSTITUTIONS HAVE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stress analysis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ratios &amp; beta targeting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Value-at-Risk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desks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HAS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chart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PnL number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Discord tip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markets. Wildly unequal tools. Veylix closes that gap.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Veylix shows the consequence before the click.</a:t>
            </a:r>
            <a:endParaRPr lang="en-US" sz="3300" dirty="0"/>
          </a:p>
        </p:txBody>
      </p:sp>
      <p:pic>
        <p:nvPicPr>
          <p:cNvPr id="6" name="Image 1" descr="/mnt/user-data/uploads/178196107160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6903720" cy="39808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057400"/>
            <a:ext cx="6903720" cy="3980892"/>
          </a:xfrm>
          <a:prstGeom prst="roundRect">
            <a:avLst>
              <a:gd name="adj" fmla="val 919"/>
            </a:avLst>
          </a:prstGeom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909560" y="2240280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3774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2203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live portfolio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503920" y="25694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holdings via Bybit — quantities, prices, weights.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909560" y="3447288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8444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3410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any move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503920" y="3776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hold, or hedge — watch the outcome cone reshape live.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909560" y="4654296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914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50392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explained. No advice, no black box, no extraction.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risk math, running in your browser.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6112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27111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Connect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96112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pulled from Bybit (on-chain wallets next).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493008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916" y="27111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Simulate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749040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3,000-path Monte Carlo + Value-at-Risk. BTC factor + idiosyncratic noise. Zero-drift — risk, not prediction.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345936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601968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27111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0196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Cost the hedge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601968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Bybit funding rates price what a hedge actually costs you.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198864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454896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72" y="271119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See &amp; understand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454896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cone + an AI layer explaining every number in plain language.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14400" y="545896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562356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Bybit use:  </a:t>
            </a:r>
            <a:r>
              <a:rPr lang="en-US" sz="16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holdings + funding-rate data = the true, current cost of hedging your portfolio — not a guess.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974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Pre-trade, not post-mortem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you act — not PnL after the damage is done.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340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772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697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not black-box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traced to its driver. Methodology on screen, fixed-seed reproducible.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4672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2104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6974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not advice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210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risk, never recommends. No custody, no execution, no extraction.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517550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predict prices — we make downside legible. Prediction is what burns retail; clarity is what protects it.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gives retail forward-looking risk.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45368" cy="3785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Veylix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CoinStats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Bybit calc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Aladdin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portfolio · your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outcome cone (MC)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tail risk · 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hedge + live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/ inspectable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$9.99/mo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Enterprise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532120"/>
            <a:ext cx="10927080" cy="713232"/>
          </a:xfrm>
          <a:prstGeom prst="roundRect">
            <a:avLst>
              <a:gd name="adj" fmla="val 11538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market: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(CoinStats, Zerion, Delta) show holdings and past P&amp;L; Bybit's calculator prices one position; forward portfolio risk lives only in institutional engines like Aladdin. Veylix is first to bring it to retail — live, explained, free.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91994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brand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“Honest by default” is structurally hard for volume-driven incumbents to copy — their model depends on you trading more.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46" y="2691994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integration network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17804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exchanges and wallets, each integration becomes distribution other tools can't reach.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657954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risk-literacy flywheel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0020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→ community → engagement → data that sharpens the models.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1792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346" y="4657954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methodology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17804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reproducible risk runs (roadmap) turn transparency into proof — a credibility moat.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BUILT-IN, NOT BOLTED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&amp; safety.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27986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Bybit read-only. Veylix can never place a trade or move your funds.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3296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66" y="2627986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296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custody, ever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hold your assets, keys, or balances. Nothing to seize, nothing to hack.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5152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26" y="2627986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152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with you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runs client-side — your portfolio never leaves your browser.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1440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740250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&amp; auditable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math, assumptions on screen. Same inputs, same outputs — every time.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3296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066" y="4740250"/>
            <a:ext cx="212141" cy="2121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296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advice, no predictions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risk; never recommends. Models dispersion, not future returns.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835152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626" y="4740250"/>
            <a:ext cx="212141" cy="21214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5152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GDPR-aligned by default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clear purpose. No third-party ad use, no resale.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· SUSTAINABLE DEVELOPMENT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impact.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LEVERAGED RETAIL TRADERS LOSE MONEY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Inequalities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gets the same pre-trade risk visibility institutions have — closing the asymmetry.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64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64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64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OWNERS EXPOSED TO VOLATILE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64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 &amp; Growth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64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and limiting avoidable, leverage-driven losses builds a healthier market.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002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002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002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WORST CASE, FINALLY MADE VISIBLE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02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Education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002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 — every number explained. Risk literacy before the trade.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4516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56869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rewarding the biggest bet.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fairer system — the one institutions kept to themselves.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lens for the whole retail market.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4323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741M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10896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crypto owners (Crypto.com, 2025).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~100M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310896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retail traders taking directional / leveraged risk. Bybit: 80M users.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84632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992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Beachhead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310896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Bybit-connected traders at launch — the embedded risk lens.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2286000"/>
            <a:ext cx="4114800" cy="3703320"/>
          </a:xfrm>
          <a:prstGeom prst="roundRect">
            <a:avLst>
              <a:gd name="adj" fmla="val 222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43800" y="2286000"/>
            <a:ext cx="3931920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4496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B2B TOOLING MARKET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44968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asset management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72400" y="354787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0" y="3566160"/>
            <a:ext cx="390144" cy="310896"/>
          </a:xfrm>
          <a:prstGeom prst="roundRect">
            <a:avLst>
              <a:gd name="adj" fmla="val 11765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11184" y="35478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42062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4224528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7E8A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515600" y="4206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$9B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0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CAGR</a:t>
            </a:r>
            <a:r>
              <a:rPr lang="en-US" sz="16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2030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7240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Veylix's licensing revenue lives.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Crypto.com 2025; Bybit 2025; crypto asset-management market — Fortune Business Insights / Grand View, 2025–2030 est.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where the risk already lives.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Bybit — live data + an 80M-user base, and our hackathon partner.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3008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49040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49040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49040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on the account you already have. Zero switching cost.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45936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37376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01968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601968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1968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communities (X, Discord, Reddit), risk-literacy content, exchange &amp; wallet partnerships.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98864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290304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54896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454896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454896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+ on-chain wallets, risk alerts, then B2B embeds.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212080"/>
            <a:ext cx="10927080" cy="841248"/>
          </a:xfrm>
          <a:prstGeom prst="roundRect">
            <a:avLst>
              <a:gd name="adj" fmla="val 9783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526694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wins retail at zero switching cost → usage proves the value → platforms license the layer they can't build themselves. Acquisition is free; revenue is B2B.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charge the people we protect.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22960" y="1664208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retail user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71850" y="1755648"/>
            <a:ext cx="0" cy="658368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54730" y="1664208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$9B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3554730" y="219456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tooling market by 2030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03620" y="1755648"/>
            <a:ext cx="0" cy="658368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86500" y="1664208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~30%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6286500" y="219456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 to 2030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35390" y="1755648"/>
            <a:ext cx="0" cy="658368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018270" y="1664208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9018270" y="219456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of your trades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697480"/>
            <a:ext cx="3489960" cy="2286000"/>
          </a:xfrm>
          <a:prstGeom prst="roundRect">
            <a:avLst>
              <a:gd name="adj" fmla="val 36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1520" y="2697480"/>
            <a:ext cx="3307080" cy="50292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291693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· FREE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3264408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14400" y="3721608"/>
            <a:ext cx="2977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risk lens — cone, hedge, plain-language explainer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subscription, no paywall, no premium tier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charge ~$9.99/mo. We don't.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58640" y="2697480"/>
            <a:ext cx="3489960" cy="2286000"/>
          </a:xfrm>
          <a:prstGeom prst="roundRect">
            <a:avLst>
              <a:gd name="adj" fmla="val 36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450080" y="2697480"/>
            <a:ext cx="330708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32960" y="291693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 · LICENSE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32960" y="3264408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risk layer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632960" y="3721608"/>
            <a:ext cx="2977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into exchanges, wallets &amp; brokers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+ FCA push them to evidence responsible trading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contracts — not per-seat, not user volume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077200" y="2697480"/>
            <a:ext cx="3489960" cy="2286000"/>
          </a:xfrm>
          <a:prstGeom prst="roundRect">
            <a:avLst>
              <a:gd name="adj" fmla="val 36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168640" y="2697480"/>
            <a:ext cx="3307080" cy="50292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51520" y="291693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 · API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51520" y="3264408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API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351520" y="3721608"/>
            <a:ext cx="2977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risk-runs for any app or bot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run — no seats, no subscription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usage, not headcount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5138928"/>
            <a:ext cx="10927080" cy="841248"/>
          </a:xfrm>
          <a:prstGeom prst="roundRect">
            <a:avLst>
              <a:gd name="adj" fmla="val 9783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subscription. No performance fees. No volume kickbacks.  </a:t>
            </a: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profit from you trading more — that's the whole point.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risk tooling reaches retail.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2668219"/>
            <a:ext cx="204826" cy="204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pulling this way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7276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is in force across the EU; the UK's FCA crypto regime advances through 2026. Both demand transparency and responsible-trading tools — post-FTX, honest risk tooling is expected.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59" y="2668219"/>
            <a:ext cx="204826" cy="204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has never been higher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5060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derivatives participation stays massive, and ~80% lose money. Appetite for non-extractive, honest risk tooling is at a high.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661611"/>
            <a:ext cx="204826" cy="204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is finally cheap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7276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Monte Carlo now runs 3,000 paths live in the browser — sophisticated risk visualisation, zero backend.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1792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661611"/>
            <a:ext cx="204826" cy="204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15060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aggressive search: no tool combines live portfolio + probabilistic cone + interactive hedge + non-advice. The white space is real, and unclaimed.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lens to risk layer.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89904" y="2423160"/>
            <a:ext cx="0" cy="3328416"/>
          </a:xfrm>
          <a:prstGeom prst="line">
            <a:avLst/>
          </a:prstGeom>
          <a:noFill/>
          <a:ln w="25400">
            <a:solidFill>
              <a:srgbClr val="26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801368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801368"/>
            <a:ext cx="4773168" cy="45720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LIVE MVP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61688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" y="22768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Bybit portfolio + the outcome cone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/ MSTR hedge priced by real funding rates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Monte Carlo · non-advice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96128" y="2468880"/>
            <a:ext cx="283464" cy="0"/>
          </a:xfrm>
          <a:prstGeom prst="line">
            <a:avLst/>
          </a:prstGeom>
          <a:noFill/>
          <a:ln w="1905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79592" y="2258568"/>
            <a:ext cx="420624" cy="420624"/>
          </a:xfrm>
          <a:prstGeom prst="ellipse">
            <a:avLst/>
          </a:prstGeom>
          <a:solidFill>
            <a:srgbClr val="52C7E8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7959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11112" y="2880360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02552" y="2880360"/>
            <a:ext cx="4773168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67144" y="30266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ON-CHAIN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332720" y="3026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3355848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— on-chain wallets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flags: liquidity, concentration, rug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Risk-alerts / monitoring agent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0216" y="3547872"/>
            <a:ext cx="310896" cy="0"/>
          </a:xfrm>
          <a:prstGeom prst="line">
            <a:avLst/>
          </a:prstGeom>
          <a:noFill/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79592" y="3337560"/>
            <a:ext cx="420624" cy="420624"/>
          </a:xfrm>
          <a:prstGeom prst="ellipse">
            <a:avLst/>
          </a:prstGeom>
          <a:solidFill>
            <a:srgbClr val="7E8AF5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79592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3959352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4773168" cy="45720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4105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· PLATFORMS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61688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6112" y="4434840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coverage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embed / license + usage API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risk layer for platforms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96128" y="4626864"/>
            <a:ext cx="283464" cy="0"/>
          </a:xfrm>
          <a:prstGeom prst="line">
            <a:avLst/>
          </a:prstGeom>
          <a:noFill/>
          <a:ln w="1905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79592" y="4416552"/>
            <a:ext cx="420624" cy="420624"/>
          </a:xfrm>
          <a:prstGeom prst="ellipse">
            <a:avLst/>
          </a:prstGeom>
          <a:solidFill>
            <a:srgbClr val="9B86F0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79592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11112" y="5038344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02552" y="5038344"/>
            <a:ext cx="4773168" cy="45720"/>
          </a:xfrm>
          <a:prstGeom prst="rect">
            <a:avLst/>
          </a:prstGeom>
          <a:solidFill>
            <a:srgbClr val="FF6F6F"/>
          </a:solidFill>
          <a:ln w="1270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67144" y="51846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 · EXECUTION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332720" y="5184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867144" y="55138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Non-custodial, self-directed hedge execution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auditable runs (Walrus / Sui)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SDK for any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00216" y="5705856"/>
            <a:ext cx="310896" cy="0"/>
          </a:xfrm>
          <a:prstGeom prst="line">
            <a:avLst/>
          </a:prstGeom>
          <a:noFill/>
          <a:ln w="1905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79592" y="5495544"/>
            <a:ext cx="420624" cy="420624"/>
          </a:xfrm>
          <a:prstGeom prst="ellipse">
            <a:avLst/>
          </a:prstGeom>
          <a:solidFill>
            <a:srgbClr val="FF6F6F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79592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No black box.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330708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contract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v1 JSON contract — per-asset beta, idiosyncratic vol, BTC factor vol, carry — plus Bybit wallet-shape portfolios. Engine produces it; the frontend consumes it.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v1 · frozen schema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5864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50080" y="2194560"/>
            <a:ext cx="3307080" cy="50292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3296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552" y="26334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296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3296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veylix-sim.js: a single-factor, zero-drift dispersion model. ~3,000 paths, fixed seed (0x5EED5). Same inputs always reproduce the same numbers.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3296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 paths · fixed seed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7720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68640" y="2194560"/>
            <a:ext cx="3307080" cy="50292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35152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112" y="26334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5152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35152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by design — no backend, no server to trust. The model runs in the browser, so anyone can open it and verify the math. quant_engine → frontend.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5152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backend · 100% client-side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669280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14400" y="57058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not trusted: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lives in the page — anyone can open it, re-run it, and get the identical result.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THE RUBRIC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Veylix scores.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27080" cy="39502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WE HIT 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BGA ethos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Monte Carlo for retail; reduces information asymmetry; no advice, no extraction.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&amp; tech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AI for transparency, not prediction; Monte Carlo + VaR; deterministic, client-side by design; meaningful Bybit use — beyond a thin wrapper.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&amp; risk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Zero-drift — nothing to overfit; read-only — no execution or runaway; surfaces drawdown, volatility &amp; liquidation risk.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 explained; methodology on screen; fixed-seed reproducible; on-chain runs (roadmap).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real, costly problem; connects live accounts; accessible to non-institutions.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&amp; UX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screen, dark and legible; complex risk made simple.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&amp; demo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MVP on live Bybit data; the hedge-drag demo moment.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163056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for Solvimon · business:  </a:t>
            </a:r>
            <a:r>
              <a:rPr lang="en-US" sz="12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company — clear customer, validated problem, sensible monetisation (slides 7–11).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965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65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681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vision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4788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4358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4358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9652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508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1518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0508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9496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9066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9066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04360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5216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56226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95216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core contributor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4204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73774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3774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59068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9924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10934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9924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58912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28482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28482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113776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Lilian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04632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65642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04632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1362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319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319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96848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5934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 Lead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42035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5934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777240"/>
            <a:ext cx="4937760" cy="2633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45643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downside before you act.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651760" y="4251960"/>
            <a:ext cx="6885432" cy="1554480"/>
          </a:xfrm>
          <a:prstGeom prst="roundRect">
            <a:avLst>
              <a:gd name="adj" fmla="val 3529"/>
            </a:avLst>
          </a:prstGeom>
          <a:solidFill>
            <a:srgbClr val="0F1320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063240" y="4489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44897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veylix.app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63240" y="48737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6324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49469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500" dirty="0" err="1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/terrytrl100/team-</a:t>
            </a:r>
            <a:r>
              <a:rPr lang="en-US" sz="1500" dirty="0" err="1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63240" y="53309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63240" y="5404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54041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open source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6053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Team Veylix  ·  Terry · Ashish · Raj · Jia · Lilian · Patti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 HTML · client-side Monte Carlo · live Bybit funding rates · deterministic &amp; reproducible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2016</Words>
  <Application>Microsoft Macintosh PowerPoint</Application>
  <PresentationFormat>Widescreen</PresentationFormat>
  <Paragraphs>355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Veylix — Pitch Deck</dc:title>
  <dc:subject>PptxGenJS Presentation</dc:subject>
  <dc:creator>Team Veylix</dc:creator>
  <cp:lastModifiedBy>Patricia Kusch</cp:lastModifiedBy>
  <cp:revision>3</cp:revision>
  <dcterms:created xsi:type="dcterms:W3CDTF">2026-06-20T15:32:27Z</dcterms:created>
  <dcterms:modified xsi:type="dcterms:W3CDTF">2026-06-20T17:27:29Z</dcterms:modified>
</cp:coreProperties>
</file>